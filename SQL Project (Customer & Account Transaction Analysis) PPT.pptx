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44" autoAdjust="0"/>
    <p:restoredTop sz="94660"/>
  </p:normalViewPr>
  <p:slideViewPr>
    <p:cSldViewPr snapToGrid="0">
      <p:cViewPr varScale="1">
        <p:scale>
          <a:sx n="87" d="100"/>
          <a:sy n="87" d="100"/>
        </p:scale>
        <p:origin x="792" y="5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2AEB5E-CEF2-42B7-84AD-56B198EFFCD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75DD520-4F2D-4BF4-9911-47E103FB9570}">
      <dgm:prSet/>
      <dgm:spPr/>
      <dgm:t>
        <a:bodyPr/>
        <a:lstStyle/>
        <a:p>
          <a:pPr rtl="0"/>
          <a:r>
            <a:rPr lang="en-US" dirty="0" smtClean="0">
              <a:solidFill>
                <a:schemeClr val="bg1"/>
              </a:solidFill>
            </a:rPr>
            <a:t>2. Since customer spread is fairly balanced, the bank is </a:t>
          </a:r>
          <a:r>
            <a:rPr lang="en-US" b="1" dirty="0" smtClean="0">
              <a:solidFill>
                <a:schemeClr val="bg1"/>
              </a:solidFill>
            </a:rPr>
            <a:t>not overly dependent on one region</a:t>
          </a:r>
          <a:r>
            <a:rPr lang="en-US" dirty="0" smtClean="0">
              <a:solidFill>
                <a:schemeClr val="bg1"/>
              </a:solidFill>
            </a:rPr>
            <a:t> — reducing regional risk.</a:t>
          </a:r>
          <a:endParaRPr lang="en-US" dirty="0">
            <a:solidFill>
              <a:schemeClr val="bg1"/>
            </a:solidFill>
          </a:endParaRPr>
        </a:p>
      </dgm:t>
    </dgm:pt>
    <dgm:pt modelId="{A9A18C6D-87F3-46A1-ABC5-ACEBD120FFFB}" type="parTrans" cxnId="{AD24D368-EF2F-4F35-AE9D-BCED2EC04F04}">
      <dgm:prSet/>
      <dgm:spPr/>
      <dgm:t>
        <a:bodyPr/>
        <a:lstStyle/>
        <a:p>
          <a:endParaRPr lang="en-US"/>
        </a:p>
      </dgm:t>
    </dgm:pt>
    <dgm:pt modelId="{4B2D697E-6831-4493-9993-EA158F440D39}" type="sibTrans" cxnId="{AD24D368-EF2F-4F35-AE9D-BCED2EC04F04}">
      <dgm:prSet/>
      <dgm:spPr/>
      <dgm:t>
        <a:bodyPr/>
        <a:lstStyle/>
        <a:p>
          <a:endParaRPr lang="en-US"/>
        </a:p>
      </dgm:t>
    </dgm:pt>
    <dgm:pt modelId="{9AA20B53-C79A-4153-A00F-80FA47ACAFE9}">
      <dgm:prSet/>
      <dgm:spPr/>
      <dgm:t>
        <a:bodyPr/>
        <a:lstStyle/>
        <a:p>
          <a:pPr rtl="0"/>
          <a:r>
            <a:rPr lang="en-US" dirty="0" smtClean="0">
              <a:solidFill>
                <a:schemeClr val="bg1"/>
              </a:solidFill>
            </a:rPr>
            <a:t>1. The </a:t>
          </a:r>
          <a:r>
            <a:rPr lang="en-US" b="1" dirty="0" smtClean="0">
              <a:solidFill>
                <a:schemeClr val="bg1"/>
              </a:solidFill>
            </a:rPr>
            <a:t>East region</a:t>
          </a:r>
          <a:r>
            <a:rPr lang="en-US" dirty="0" smtClean="0">
              <a:solidFill>
                <a:schemeClr val="bg1"/>
              </a:solidFill>
            </a:rPr>
            <a:t> should be targeted with </a:t>
          </a:r>
          <a:r>
            <a:rPr lang="en-US" b="1" dirty="0" smtClean="0">
              <a:solidFill>
                <a:schemeClr val="bg1"/>
              </a:solidFill>
            </a:rPr>
            <a:t>marketing campaigns, local offers, or new branch/digital service rollouts</a:t>
          </a:r>
          <a:r>
            <a:rPr lang="en-US" dirty="0" smtClean="0">
              <a:solidFill>
                <a:schemeClr val="bg1"/>
              </a:solidFill>
            </a:rPr>
            <a:t> to close the gap. </a:t>
          </a:r>
          <a:endParaRPr lang="en-US" dirty="0">
            <a:solidFill>
              <a:schemeClr val="bg1"/>
            </a:solidFill>
          </a:endParaRPr>
        </a:p>
      </dgm:t>
    </dgm:pt>
    <dgm:pt modelId="{DD6BA73A-0A93-4849-86BF-66B59B90370C}" type="sibTrans" cxnId="{F5D637BF-3975-4F59-8EAF-C4DA46BEACDB}">
      <dgm:prSet/>
      <dgm:spPr/>
      <dgm:t>
        <a:bodyPr/>
        <a:lstStyle/>
        <a:p>
          <a:endParaRPr lang="en-US"/>
        </a:p>
      </dgm:t>
    </dgm:pt>
    <dgm:pt modelId="{3BC27B08-6488-4B1B-B250-A86CFA53881F}" type="parTrans" cxnId="{F5D637BF-3975-4F59-8EAF-C4DA46BEACDB}">
      <dgm:prSet/>
      <dgm:spPr/>
      <dgm:t>
        <a:bodyPr/>
        <a:lstStyle/>
        <a:p>
          <a:endParaRPr lang="en-US"/>
        </a:p>
      </dgm:t>
    </dgm:pt>
    <dgm:pt modelId="{AA3059F0-C91B-486C-ACF7-B6CD56CD4BB1}">
      <dgm:prSet/>
      <dgm:spPr/>
      <dgm:t>
        <a:bodyPr/>
        <a:lstStyle/>
        <a:p>
          <a:pPr rtl="0"/>
          <a:r>
            <a:rPr lang="en-US" dirty="0" smtClean="0">
              <a:solidFill>
                <a:schemeClr val="bg1"/>
              </a:solidFill>
            </a:rPr>
            <a:t>📈 Insights: </a:t>
          </a:r>
          <a:endParaRPr lang="en-US" dirty="0">
            <a:solidFill>
              <a:schemeClr val="bg1"/>
            </a:solidFill>
          </a:endParaRPr>
        </a:p>
      </dgm:t>
    </dgm:pt>
    <dgm:pt modelId="{DA630B19-095E-4C2C-857C-F717F1EB28C8}" type="sibTrans" cxnId="{8BAFF428-C72A-4878-AF53-F27F00DCE152}">
      <dgm:prSet/>
      <dgm:spPr/>
      <dgm:t>
        <a:bodyPr/>
        <a:lstStyle/>
        <a:p>
          <a:endParaRPr lang="en-US"/>
        </a:p>
      </dgm:t>
    </dgm:pt>
    <dgm:pt modelId="{9F0368D4-DD1D-480A-8450-B99D1CB8504A}" type="parTrans" cxnId="{8BAFF428-C72A-4878-AF53-F27F00DCE152}">
      <dgm:prSet/>
      <dgm:spPr/>
      <dgm:t>
        <a:bodyPr/>
        <a:lstStyle/>
        <a:p>
          <a:endParaRPr lang="en-US"/>
        </a:p>
      </dgm:t>
    </dgm:pt>
    <dgm:pt modelId="{6ADE8613-B10A-4B86-9A64-53E0B3929DE9}" type="pres">
      <dgm:prSet presAssocID="{442AEB5E-CEF2-42B7-84AD-56B198EFFCD2}" presName="linear" presStyleCnt="0">
        <dgm:presLayoutVars>
          <dgm:animLvl val="lvl"/>
          <dgm:resizeHandles val="exact"/>
        </dgm:presLayoutVars>
      </dgm:prSet>
      <dgm:spPr/>
      <dgm:t>
        <a:bodyPr/>
        <a:lstStyle/>
        <a:p>
          <a:endParaRPr lang="en-US"/>
        </a:p>
      </dgm:t>
    </dgm:pt>
    <dgm:pt modelId="{584D21A3-519D-40E1-8F34-6B4A0B336A52}" type="pres">
      <dgm:prSet presAssocID="{AA3059F0-C91B-486C-ACF7-B6CD56CD4BB1}" presName="parentText" presStyleLbl="node1" presStyleIdx="0" presStyleCnt="3" custLinFactY="3897" custLinFactNeighborY="100000">
        <dgm:presLayoutVars>
          <dgm:chMax val="0"/>
          <dgm:bulletEnabled val="1"/>
        </dgm:presLayoutVars>
      </dgm:prSet>
      <dgm:spPr/>
      <dgm:t>
        <a:bodyPr/>
        <a:lstStyle/>
        <a:p>
          <a:endParaRPr lang="en-US"/>
        </a:p>
      </dgm:t>
    </dgm:pt>
    <dgm:pt modelId="{BBD1E669-E5A5-4347-A93B-0592BB3D92E6}" type="pres">
      <dgm:prSet presAssocID="{DA630B19-095E-4C2C-857C-F717F1EB28C8}" presName="spacer" presStyleCnt="0"/>
      <dgm:spPr/>
    </dgm:pt>
    <dgm:pt modelId="{EE180301-4060-491E-B7FF-E8D82FB0CF77}" type="pres">
      <dgm:prSet presAssocID="{9AA20B53-C79A-4153-A00F-80FA47ACAFE9}" presName="parentText" presStyleLbl="node1" presStyleIdx="1" presStyleCnt="3" custLinFactY="7632" custLinFactNeighborX="-147" custLinFactNeighborY="100000">
        <dgm:presLayoutVars>
          <dgm:chMax val="0"/>
          <dgm:bulletEnabled val="1"/>
        </dgm:presLayoutVars>
      </dgm:prSet>
      <dgm:spPr/>
      <dgm:t>
        <a:bodyPr/>
        <a:lstStyle/>
        <a:p>
          <a:endParaRPr lang="en-US"/>
        </a:p>
      </dgm:t>
    </dgm:pt>
    <dgm:pt modelId="{3E8471C6-A7E8-4255-BD93-EF3A9D6A6690}" type="pres">
      <dgm:prSet presAssocID="{DD6BA73A-0A93-4849-86BF-66B59B90370C}" presName="spacer" presStyleCnt="0"/>
      <dgm:spPr/>
    </dgm:pt>
    <dgm:pt modelId="{50510CB5-6680-4858-8DF1-82BF94CCE96A}" type="pres">
      <dgm:prSet presAssocID="{D75DD520-4F2D-4BF4-9911-47E103FB9570}" presName="parentText" presStyleLbl="node1" presStyleIdx="2" presStyleCnt="3" custLinFactY="12846" custLinFactNeighborX="-74" custLinFactNeighborY="100000">
        <dgm:presLayoutVars>
          <dgm:chMax val="0"/>
          <dgm:bulletEnabled val="1"/>
        </dgm:presLayoutVars>
      </dgm:prSet>
      <dgm:spPr/>
      <dgm:t>
        <a:bodyPr/>
        <a:lstStyle/>
        <a:p>
          <a:endParaRPr lang="en-US"/>
        </a:p>
      </dgm:t>
    </dgm:pt>
  </dgm:ptLst>
  <dgm:cxnLst>
    <dgm:cxn modelId="{8BAFF428-C72A-4878-AF53-F27F00DCE152}" srcId="{442AEB5E-CEF2-42B7-84AD-56B198EFFCD2}" destId="{AA3059F0-C91B-486C-ACF7-B6CD56CD4BB1}" srcOrd="0" destOrd="0" parTransId="{9F0368D4-DD1D-480A-8450-B99D1CB8504A}" sibTransId="{DA630B19-095E-4C2C-857C-F717F1EB28C8}"/>
    <dgm:cxn modelId="{42785DB7-E5AE-4574-93FF-E7E33E94B6BA}" type="presOf" srcId="{442AEB5E-CEF2-42B7-84AD-56B198EFFCD2}" destId="{6ADE8613-B10A-4B86-9A64-53E0B3929DE9}" srcOrd="0" destOrd="0" presId="urn:microsoft.com/office/officeart/2005/8/layout/vList2"/>
    <dgm:cxn modelId="{8B3FDD5E-747F-41A4-9B9E-9C3A5574B82C}" type="presOf" srcId="{AA3059F0-C91B-486C-ACF7-B6CD56CD4BB1}" destId="{584D21A3-519D-40E1-8F34-6B4A0B336A52}" srcOrd="0" destOrd="0" presId="urn:microsoft.com/office/officeart/2005/8/layout/vList2"/>
    <dgm:cxn modelId="{6771CDF0-B0DF-4F0F-BB7B-06405EC4B656}" type="presOf" srcId="{D75DD520-4F2D-4BF4-9911-47E103FB9570}" destId="{50510CB5-6680-4858-8DF1-82BF94CCE96A}" srcOrd="0" destOrd="0" presId="urn:microsoft.com/office/officeart/2005/8/layout/vList2"/>
    <dgm:cxn modelId="{AC26A342-C0BA-43FE-9C34-C6E0E8F6EE80}" type="presOf" srcId="{9AA20B53-C79A-4153-A00F-80FA47ACAFE9}" destId="{EE180301-4060-491E-B7FF-E8D82FB0CF77}" srcOrd="0" destOrd="0" presId="urn:microsoft.com/office/officeart/2005/8/layout/vList2"/>
    <dgm:cxn modelId="{F5D637BF-3975-4F59-8EAF-C4DA46BEACDB}" srcId="{442AEB5E-CEF2-42B7-84AD-56B198EFFCD2}" destId="{9AA20B53-C79A-4153-A00F-80FA47ACAFE9}" srcOrd="1" destOrd="0" parTransId="{3BC27B08-6488-4B1B-B250-A86CFA53881F}" sibTransId="{DD6BA73A-0A93-4849-86BF-66B59B90370C}"/>
    <dgm:cxn modelId="{AD24D368-EF2F-4F35-AE9D-BCED2EC04F04}" srcId="{442AEB5E-CEF2-42B7-84AD-56B198EFFCD2}" destId="{D75DD520-4F2D-4BF4-9911-47E103FB9570}" srcOrd="2" destOrd="0" parTransId="{A9A18C6D-87F3-46A1-ABC5-ACEBD120FFFB}" sibTransId="{4B2D697E-6831-4493-9993-EA158F440D39}"/>
    <dgm:cxn modelId="{0CFFFF7C-1ACE-4447-B5D2-99EBD5ED46F3}" type="presParOf" srcId="{6ADE8613-B10A-4B86-9A64-53E0B3929DE9}" destId="{584D21A3-519D-40E1-8F34-6B4A0B336A52}" srcOrd="0" destOrd="0" presId="urn:microsoft.com/office/officeart/2005/8/layout/vList2"/>
    <dgm:cxn modelId="{3E8C95F8-3C76-4B58-81B0-976BEBFA011F}" type="presParOf" srcId="{6ADE8613-B10A-4B86-9A64-53E0B3929DE9}" destId="{BBD1E669-E5A5-4347-A93B-0592BB3D92E6}" srcOrd="1" destOrd="0" presId="urn:microsoft.com/office/officeart/2005/8/layout/vList2"/>
    <dgm:cxn modelId="{BF98216C-CE61-42B1-870A-DF660111625A}" type="presParOf" srcId="{6ADE8613-B10A-4B86-9A64-53E0B3929DE9}" destId="{EE180301-4060-491E-B7FF-E8D82FB0CF77}" srcOrd="2" destOrd="0" presId="urn:microsoft.com/office/officeart/2005/8/layout/vList2"/>
    <dgm:cxn modelId="{FF8F6932-235D-4902-8884-D5D9A01778ED}" type="presParOf" srcId="{6ADE8613-B10A-4B86-9A64-53E0B3929DE9}" destId="{3E8471C6-A7E8-4255-BD93-EF3A9D6A6690}" srcOrd="3" destOrd="0" presId="urn:microsoft.com/office/officeart/2005/8/layout/vList2"/>
    <dgm:cxn modelId="{A8B10616-9699-4105-B994-0B2C69B9E2C1}" type="presParOf" srcId="{6ADE8613-B10A-4B86-9A64-53E0B3929DE9}" destId="{50510CB5-6680-4858-8DF1-82BF94CCE96A}"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266D44-D259-4A12-B1A3-B6F1799B8C6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6D75D63-F1C2-4E86-931E-BA115592716B}">
      <dgm:prSet/>
      <dgm:spPr/>
      <dgm:t>
        <a:bodyPr/>
        <a:lstStyle/>
        <a:p>
          <a:pPr rtl="0"/>
          <a:r>
            <a:rPr lang="en-US" b="1" smtClean="0">
              <a:solidFill>
                <a:schemeClr val="bg1"/>
              </a:solidFill>
            </a:rPr>
            <a:t>📈 Insights:</a:t>
          </a:r>
          <a:endParaRPr lang="en-US" b="1">
            <a:solidFill>
              <a:schemeClr val="bg1"/>
            </a:solidFill>
          </a:endParaRPr>
        </a:p>
      </dgm:t>
    </dgm:pt>
    <dgm:pt modelId="{9BD03B4A-8080-4C54-8BC4-65AA029F7B7E}" type="parTrans" cxnId="{9AB86FD7-E268-4B3F-8BF2-8B4695902FB4}">
      <dgm:prSet/>
      <dgm:spPr/>
      <dgm:t>
        <a:bodyPr/>
        <a:lstStyle/>
        <a:p>
          <a:endParaRPr lang="en-US"/>
        </a:p>
      </dgm:t>
    </dgm:pt>
    <dgm:pt modelId="{A4172A5F-5040-4A03-B4B0-C41E188FF5FD}" type="sibTrans" cxnId="{9AB86FD7-E268-4B3F-8BF2-8B4695902FB4}">
      <dgm:prSet/>
      <dgm:spPr/>
      <dgm:t>
        <a:bodyPr/>
        <a:lstStyle/>
        <a:p>
          <a:endParaRPr lang="en-US"/>
        </a:p>
      </dgm:t>
    </dgm:pt>
    <dgm:pt modelId="{A168FEAC-032E-49A4-B099-A00219F0BECC}">
      <dgm:prSet/>
      <dgm:spPr/>
      <dgm:t>
        <a:bodyPr/>
        <a:lstStyle/>
        <a:p>
          <a:pPr rtl="0"/>
          <a:r>
            <a:rPr lang="en-US" dirty="0" smtClean="0">
              <a:solidFill>
                <a:schemeClr val="bg1"/>
              </a:solidFill>
            </a:rPr>
            <a:t>-&gt; Here, Savings holders maintain slightly higher balances than business/current accounts.</a:t>
          </a:r>
          <a:endParaRPr lang="en-US" dirty="0">
            <a:solidFill>
              <a:schemeClr val="bg1"/>
            </a:solidFill>
          </a:endParaRPr>
        </a:p>
      </dgm:t>
    </dgm:pt>
    <dgm:pt modelId="{72B6D031-50CE-4F97-9484-3B04941361D9}" type="parTrans" cxnId="{DE2900F3-50A4-423E-82F0-4954F01F3FA8}">
      <dgm:prSet/>
      <dgm:spPr/>
      <dgm:t>
        <a:bodyPr/>
        <a:lstStyle/>
        <a:p>
          <a:endParaRPr lang="en-US"/>
        </a:p>
      </dgm:t>
    </dgm:pt>
    <dgm:pt modelId="{7700C0F8-5B4C-41BF-83A3-51EFEF758963}" type="sibTrans" cxnId="{DE2900F3-50A4-423E-82F0-4954F01F3FA8}">
      <dgm:prSet/>
      <dgm:spPr/>
      <dgm:t>
        <a:bodyPr/>
        <a:lstStyle/>
        <a:p>
          <a:endParaRPr lang="en-US"/>
        </a:p>
      </dgm:t>
    </dgm:pt>
    <dgm:pt modelId="{8184BADD-9E92-452C-941D-ABFDC9249BC5}">
      <dgm:prSet/>
      <dgm:spPr/>
      <dgm:t>
        <a:bodyPr/>
        <a:lstStyle/>
        <a:p>
          <a:pPr rtl="0"/>
          <a:r>
            <a:rPr lang="en-US" dirty="0" smtClean="0">
              <a:solidFill>
                <a:schemeClr val="bg1"/>
              </a:solidFill>
            </a:rPr>
            <a:t>-&gt; Again, not much difference, Current account customers may need </a:t>
          </a:r>
          <a:r>
            <a:rPr lang="en-US" b="1" dirty="0" smtClean="0">
              <a:solidFill>
                <a:schemeClr val="bg1"/>
              </a:solidFill>
            </a:rPr>
            <a:t>working capital or overdraft products</a:t>
          </a:r>
          <a:r>
            <a:rPr lang="en-US" dirty="0" smtClean="0">
              <a:solidFill>
                <a:schemeClr val="bg1"/>
              </a:solidFill>
            </a:rPr>
            <a:t> since balances are little lower.</a:t>
          </a:r>
          <a:endParaRPr lang="en-US" dirty="0">
            <a:solidFill>
              <a:schemeClr val="bg1"/>
            </a:solidFill>
          </a:endParaRPr>
        </a:p>
      </dgm:t>
    </dgm:pt>
    <dgm:pt modelId="{AE3B82F1-9E61-4E01-AE0A-FB82BD03D9C8}" type="parTrans" cxnId="{216C67F7-1576-49BA-ABC3-D17BBF2D93CC}">
      <dgm:prSet/>
      <dgm:spPr/>
      <dgm:t>
        <a:bodyPr/>
        <a:lstStyle/>
        <a:p>
          <a:endParaRPr lang="en-US"/>
        </a:p>
      </dgm:t>
    </dgm:pt>
    <dgm:pt modelId="{FC5C186E-C5CC-4876-801D-2E64D084D7A5}" type="sibTrans" cxnId="{216C67F7-1576-49BA-ABC3-D17BBF2D93CC}">
      <dgm:prSet/>
      <dgm:spPr/>
      <dgm:t>
        <a:bodyPr/>
        <a:lstStyle/>
        <a:p>
          <a:endParaRPr lang="en-US"/>
        </a:p>
      </dgm:t>
    </dgm:pt>
    <dgm:pt modelId="{95A4A940-920A-4853-80CC-7FAFA381C59E}" type="pres">
      <dgm:prSet presAssocID="{66266D44-D259-4A12-B1A3-B6F1799B8C6B}" presName="linear" presStyleCnt="0">
        <dgm:presLayoutVars>
          <dgm:animLvl val="lvl"/>
          <dgm:resizeHandles val="exact"/>
        </dgm:presLayoutVars>
      </dgm:prSet>
      <dgm:spPr/>
      <dgm:t>
        <a:bodyPr/>
        <a:lstStyle/>
        <a:p>
          <a:endParaRPr lang="en-US"/>
        </a:p>
      </dgm:t>
    </dgm:pt>
    <dgm:pt modelId="{5A12D2AE-1390-4A02-966B-7E597B328AC4}" type="pres">
      <dgm:prSet presAssocID="{86D75D63-F1C2-4E86-931E-BA115592716B}" presName="parentText" presStyleLbl="node1" presStyleIdx="0" presStyleCnt="3">
        <dgm:presLayoutVars>
          <dgm:chMax val="0"/>
          <dgm:bulletEnabled val="1"/>
        </dgm:presLayoutVars>
      </dgm:prSet>
      <dgm:spPr/>
      <dgm:t>
        <a:bodyPr/>
        <a:lstStyle/>
        <a:p>
          <a:endParaRPr lang="en-US"/>
        </a:p>
      </dgm:t>
    </dgm:pt>
    <dgm:pt modelId="{982CF255-D4CA-4F34-83C1-95E92F520D36}" type="pres">
      <dgm:prSet presAssocID="{A4172A5F-5040-4A03-B4B0-C41E188FF5FD}" presName="spacer" presStyleCnt="0"/>
      <dgm:spPr/>
    </dgm:pt>
    <dgm:pt modelId="{EA163940-58B0-4753-844A-829A033BA946}" type="pres">
      <dgm:prSet presAssocID="{A168FEAC-032E-49A4-B099-A00219F0BECC}" presName="parentText" presStyleLbl="node1" presStyleIdx="1" presStyleCnt="3">
        <dgm:presLayoutVars>
          <dgm:chMax val="0"/>
          <dgm:bulletEnabled val="1"/>
        </dgm:presLayoutVars>
      </dgm:prSet>
      <dgm:spPr/>
      <dgm:t>
        <a:bodyPr/>
        <a:lstStyle/>
        <a:p>
          <a:endParaRPr lang="en-US"/>
        </a:p>
      </dgm:t>
    </dgm:pt>
    <dgm:pt modelId="{634E8299-FD5F-4FB6-B21D-69B92F8DE50C}" type="pres">
      <dgm:prSet presAssocID="{7700C0F8-5B4C-41BF-83A3-51EFEF758963}" presName="spacer" presStyleCnt="0"/>
      <dgm:spPr/>
    </dgm:pt>
    <dgm:pt modelId="{2308CED5-E645-47EB-9F4B-45B72591DE6E}" type="pres">
      <dgm:prSet presAssocID="{8184BADD-9E92-452C-941D-ABFDC9249BC5}" presName="parentText" presStyleLbl="node1" presStyleIdx="2" presStyleCnt="3">
        <dgm:presLayoutVars>
          <dgm:chMax val="0"/>
          <dgm:bulletEnabled val="1"/>
        </dgm:presLayoutVars>
      </dgm:prSet>
      <dgm:spPr/>
      <dgm:t>
        <a:bodyPr/>
        <a:lstStyle/>
        <a:p>
          <a:endParaRPr lang="en-US"/>
        </a:p>
      </dgm:t>
    </dgm:pt>
  </dgm:ptLst>
  <dgm:cxnLst>
    <dgm:cxn modelId="{01F53E17-9465-4B8D-97F2-A3141644A90B}" type="presOf" srcId="{66266D44-D259-4A12-B1A3-B6F1799B8C6B}" destId="{95A4A940-920A-4853-80CC-7FAFA381C59E}" srcOrd="0" destOrd="0" presId="urn:microsoft.com/office/officeart/2005/8/layout/vList2"/>
    <dgm:cxn modelId="{9AB86FD7-E268-4B3F-8BF2-8B4695902FB4}" srcId="{66266D44-D259-4A12-B1A3-B6F1799B8C6B}" destId="{86D75D63-F1C2-4E86-931E-BA115592716B}" srcOrd="0" destOrd="0" parTransId="{9BD03B4A-8080-4C54-8BC4-65AA029F7B7E}" sibTransId="{A4172A5F-5040-4A03-B4B0-C41E188FF5FD}"/>
    <dgm:cxn modelId="{FBE5F92D-4A67-4DF6-9ABA-9CCFDBBA0415}" type="presOf" srcId="{86D75D63-F1C2-4E86-931E-BA115592716B}" destId="{5A12D2AE-1390-4A02-966B-7E597B328AC4}" srcOrd="0" destOrd="0" presId="urn:microsoft.com/office/officeart/2005/8/layout/vList2"/>
    <dgm:cxn modelId="{62C93BDA-E84A-416F-A6D5-BC96C03F78DF}" type="presOf" srcId="{A168FEAC-032E-49A4-B099-A00219F0BECC}" destId="{EA163940-58B0-4753-844A-829A033BA946}" srcOrd="0" destOrd="0" presId="urn:microsoft.com/office/officeart/2005/8/layout/vList2"/>
    <dgm:cxn modelId="{371B0093-3F35-4B81-953A-F34309C9313E}" type="presOf" srcId="{8184BADD-9E92-452C-941D-ABFDC9249BC5}" destId="{2308CED5-E645-47EB-9F4B-45B72591DE6E}" srcOrd="0" destOrd="0" presId="urn:microsoft.com/office/officeart/2005/8/layout/vList2"/>
    <dgm:cxn modelId="{216C67F7-1576-49BA-ABC3-D17BBF2D93CC}" srcId="{66266D44-D259-4A12-B1A3-B6F1799B8C6B}" destId="{8184BADD-9E92-452C-941D-ABFDC9249BC5}" srcOrd="2" destOrd="0" parTransId="{AE3B82F1-9E61-4E01-AE0A-FB82BD03D9C8}" sibTransId="{FC5C186E-C5CC-4876-801D-2E64D084D7A5}"/>
    <dgm:cxn modelId="{DE2900F3-50A4-423E-82F0-4954F01F3FA8}" srcId="{66266D44-D259-4A12-B1A3-B6F1799B8C6B}" destId="{A168FEAC-032E-49A4-B099-A00219F0BECC}" srcOrd="1" destOrd="0" parTransId="{72B6D031-50CE-4F97-9484-3B04941361D9}" sibTransId="{7700C0F8-5B4C-41BF-83A3-51EFEF758963}"/>
    <dgm:cxn modelId="{72246DDE-EBED-4612-BAE4-97B0A839A807}" type="presParOf" srcId="{95A4A940-920A-4853-80CC-7FAFA381C59E}" destId="{5A12D2AE-1390-4A02-966B-7E597B328AC4}" srcOrd="0" destOrd="0" presId="urn:microsoft.com/office/officeart/2005/8/layout/vList2"/>
    <dgm:cxn modelId="{F24DDD7C-F981-4B5C-98BA-CE6D5D47FAF4}" type="presParOf" srcId="{95A4A940-920A-4853-80CC-7FAFA381C59E}" destId="{982CF255-D4CA-4F34-83C1-95E92F520D36}" srcOrd="1" destOrd="0" presId="urn:microsoft.com/office/officeart/2005/8/layout/vList2"/>
    <dgm:cxn modelId="{6891F5A1-B753-4BBF-A23D-9824D0DEDE12}" type="presParOf" srcId="{95A4A940-920A-4853-80CC-7FAFA381C59E}" destId="{EA163940-58B0-4753-844A-829A033BA946}" srcOrd="2" destOrd="0" presId="urn:microsoft.com/office/officeart/2005/8/layout/vList2"/>
    <dgm:cxn modelId="{4C2FB9F2-5884-4AB7-BBA9-2A36D0CA54B1}" type="presParOf" srcId="{95A4A940-920A-4853-80CC-7FAFA381C59E}" destId="{634E8299-FD5F-4FB6-B21D-69B92F8DE50C}" srcOrd="3" destOrd="0" presId="urn:microsoft.com/office/officeart/2005/8/layout/vList2"/>
    <dgm:cxn modelId="{25124985-584E-4557-9B43-678CE24C1B54}" type="presParOf" srcId="{95A4A940-920A-4853-80CC-7FAFA381C59E}" destId="{2308CED5-E645-47EB-9F4B-45B72591DE6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1C598A2-F4E6-408E-BD9F-11C1F372FF8A}"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004EB416-5DC4-4714-8831-A4ADE765C430}">
      <dgm:prSet custT="1"/>
      <dgm:spPr/>
      <dgm:t>
        <a:bodyPr/>
        <a:lstStyle/>
        <a:p>
          <a:pPr rtl="0"/>
          <a:r>
            <a:rPr lang="en-US" sz="1800" dirty="0" smtClean="0"/>
            <a:t>📈 Insights:</a:t>
          </a:r>
          <a:endParaRPr lang="en-US" sz="1800" dirty="0"/>
        </a:p>
      </dgm:t>
    </dgm:pt>
    <dgm:pt modelId="{610EBA70-A6DE-45F6-A501-9398747AD148}" type="parTrans" cxnId="{052403F2-C51A-490D-BB60-CFC1F3D97848}">
      <dgm:prSet/>
      <dgm:spPr/>
      <dgm:t>
        <a:bodyPr/>
        <a:lstStyle/>
        <a:p>
          <a:endParaRPr lang="en-US"/>
        </a:p>
      </dgm:t>
    </dgm:pt>
    <dgm:pt modelId="{7A4956CD-E36C-4F22-B0CE-CD7DB5F49277}" type="sibTrans" cxnId="{052403F2-C51A-490D-BB60-CFC1F3D97848}">
      <dgm:prSet/>
      <dgm:spPr/>
      <dgm:t>
        <a:bodyPr/>
        <a:lstStyle/>
        <a:p>
          <a:endParaRPr lang="en-US"/>
        </a:p>
      </dgm:t>
    </dgm:pt>
    <dgm:pt modelId="{2A83E83A-1D56-4032-A772-D566A4215D52}">
      <dgm:prSet custT="1"/>
      <dgm:spPr/>
      <dgm:t>
        <a:bodyPr/>
        <a:lstStyle/>
        <a:p>
          <a:pPr rtl="0"/>
          <a:r>
            <a:rPr lang="en-US" sz="1400" dirty="0" smtClean="0"/>
            <a:t>Here. 40+ customers have multiple accounts (up to </a:t>
          </a:r>
          <a:r>
            <a:rPr lang="en-US" sz="1400" b="1" dirty="0" smtClean="0"/>
            <a:t>6 accounts each</a:t>
          </a:r>
          <a:r>
            <a:rPr lang="en-US" sz="1400" dirty="0" smtClean="0"/>
            <a:t>).</a:t>
          </a:r>
          <a:endParaRPr lang="en-US" sz="1400" dirty="0"/>
        </a:p>
      </dgm:t>
    </dgm:pt>
    <dgm:pt modelId="{8CA768C7-8F55-4249-BEF3-E5AB2D679013}" type="parTrans" cxnId="{4B9CF79C-8BFE-4B2C-8417-B346AF45ECAA}">
      <dgm:prSet/>
      <dgm:spPr/>
      <dgm:t>
        <a:bodyPr/>
        <a:lstStyle/>
        <a:p>
          <a:endParaRPr lang="en-US"/>
        </a:p>
      </dgm:t>
    </dgm:pt>
    <dgm:pt modelId="{F44FF86C-0937-4AEB-A9DD-E30F0232233F}" type="sibTrans" cxnId="{4B9CF79C-8BFE-4B2C-8417-B346AF45ECAA}">
      <dgm:prSet/>
      <dgm:spPr/>
      <dgm:t>
        <a:bodyPr/>
        <a:lstStyle/>
        <a:p>
          <a:endParaRPr lang="en-US"/>
        </a:p>
      </dgm:t>
    </dgm:pt>
    <dgm:pt modelId="{6CEA9DEA-609B-4F58-A76B-16E28494CDE2}">
      <dgm:prSet custT="1"/>
      <dgm:spPr/>
      <dgm:t>
        <a:bodyPr/>
        <a:lstStyle/>
        <a:p>
          <a:pPr rtl="0"/>
          <a:r>
            <a:rPr lang="en-US" sz="1400" dirty="0" smtClean="0"/>
            <a:t>Many customers trust the bank enough to open multiple accounts</a:t>
          </a:r>
          <a:r>
            <a:rPr lang="en-US" sz="1200" dirty="0" smtClean="0"/>
            <a:t>.</a:t>
          </a:r>
          <a:endParaRPr lang="en-US" sz="1200" dirty="0"/>
        </a:p>
      </dgm:t>
    </dgm:pt>
    <dgm:pt modelId="{78A276E9-6961-4A2A-913B-79DD8FDD7D56}" type="parTrans" cxnId="{EF9D0AB8-013B-493F-A050-8DE0C1BFE4E3}">
      <dgm:prSet/>
      <dgm:spPr/>
      <dgm:t>
        <a:bodyPr/>
        <a:lstStyle/>
        <a:p>
          <a:endParaRPr lang="en-US"/>
        </a:p>
      </dgm:t>
    </dgm:pt>
    <dgm:pt modelId="{8FBCBC97-E63B-4FDC-93ED-0A51A26F8A8A}" type="sibTrans" cxnId="{EF9D0AB8-013B-493F-A050-8DE0C1BFE4E3}">
      <dgm:prSet/>
      <dgm:spPr/>
      <dgm:t>
        <a:bodyPr/>
        <a:lstStyle/>
        <a:p>
          <a:endParaRPr lang="en-US"/>
        </a:p>
      </dgm:t>
    </dgm:pt>
    <dgm:pt modelId="{D507F88D-C98B-4B89-B2FE-DC1908AD9BCF}">
      <dgm:prSet/>
      <dgm:spPr/>
      <dgm:t>
        <a:bodyPr/>
        <a:lstStyle/>
        <a:p>
          <a:pPr rtl="0"/>
          <a:r>
            <a:rPr lang="en-US" dirty="0" smtClean="0"/>
            <a:t>Customers </a:t>
          </a:r>
          <a:r>
            <a:rPr lang="en-US" b="0" dirty="0" smtClean="0"/>
            <a:t>with 4–6 accounts </a:t>
          </a:r>
          <a:r>
            <a:rPr lang="en-US" b="1" dirty="0" smtClean="0"/>
            <a:t>(e.g., CUST0033, CUST0048)</a:t>
          </a:r>
          <a:r>
            <a:rPr lang="en-US" dirty="0" smtClean="0"/>
            <a:t> are strong candidates for </a:t>
          </a:r>
          <a:r>
            <a:rPr lang="en-US" b="0" dirty="0" smtClean="0"/>
            <a:t>priority banking.</a:t>
          </a:r>
          <a:endParaRPr lang="en-US" b="0" dirty="0"/>
        </a:p>
      </dgm:t>
    </dgm:pt>
    <dgm:pt modelId="{76761D8D-0FA6-4510-BADC-1ECB5916A74E}" type="parTrans" cxnId="{B0E7E019-E75C-4CE5-8483-E043EE8B8ABF}">
      <dgm:prSet/>
      <dgm:spPr/>
      <dgm:t>
        <a:bodyPr/>
        <a:lstStyle/>
        <a:p>
          <a:endParaRPr lang="en-US"/>
        </a:p>
      </dgm:t>
    </dgm:pt>
    <dgm:pt modelId="{0B2FA26D-6275-4D90-A592-E882F2F76F74}" type="sibTrans" cxnId="{B0E7E019-E75C-4CE5-8483-E043EE8B8ABF}">
      <dgm:prSet/>
      <dgm:spPr/>
      <dgm:t>
        <a:bodyPr/>
        <a:lstStyle/>
        <a:p>
          <a:endParaRPr lang="en-US"/>
        </a:p>
      </dgm:t>
    </dgm:pt>
    <dgm:pt modelId="{E341BD51-4A6D-4CB5-A1E8-A481704AFBB9}">
      <dgm:prSet custT="1"/>
      <dgm:spPr/>
      <dgm:t>
        <a:bodyPr/>
        <a:lstStyle/>
        <a:p>
          <a:pPr rtl="0"/>
          <a:r>
            <a:rPr lang="en-US" sz="1600" dirty="0" smtClean="0"/>
            <a:t>Offer </a:t>
          </a:r>
          <a:r>
            <a:rPr lang="en-US" sz="1600" b="1" dirty="0" smtClean="0"/>
            <a:t>loyalty programs</a:t>
          </a:r>
          <a:r>
            <a:rPr lang="en-US" sz="1600" dirty="0" smtClean="0"/>
            <a:t> for customers with ≥3 accounts</a:t>
          </a:r>
          <a:r>
            <a:rPr lang="en-US" sz="1200" dirty="0" smtClean="0"/>
            <a:t>.</a:t>
          </a:r>
          <a:endParaRPr lang="en-US" sz="1200" dirty="0"/>
        </a:p>
      </dgm:t>
    </dgm:pt>
    <dgm:pt modelId="{ADA1D3FE-1CB0-40C0-B775-536BB0EE6F2B}" type="parTrans" cxnId="{40FC87E6-7D21-4E2E-8CC0-7CA558552963}">
      <dgm:prSet/>
      <dgm:spPr/>
      <dgm:t>
        <a:bodyPr/>
        <a:lstStyle/>
        <a:p>
          <a:endParaRPr lang="en-US"/>
        </a:p>
      </dgm:t>
    </dgm:pt>
    <dgm:pt modelId="{9BAA7E5E-2849-43CC-8708-BE0C0E1C9C0D}" type="sibTrans" cxnId="{40FC87E6-7D21-4E2E-8CC0-7CA558552963}">
      <dgm:prSet/>
      <dgm:spPr/>
      <dgm:t>
        <a:bodyPr/>
        <a:lstStyle/>
        <a:p>
          <a:endParaRPr lang="en-US"/>
        </a:p>
      </dgm:t>
    </dgm:pt>
    <dgm:pt modelId="{97051ABC-6728-4DA5-A632-19065E343933}">
      <dgm:prSet custT="1"/>
      <dgm:spPr/>
      <dgm:t>
        <a:bodyPr/>
        <a:lstStyle/>
        <a:p>
          <a:pPr rtl="0"/>
          <a:r>
            <a:rPr lang="en-US" sz="1400" dirty="0" smtClean="0"/>
            <a:t>Monitor </a:t>
          </a:r>
          <a:r>
            <a:rPr lang="en-US" sz="1400" b="1" dirty="0" smtClean="0"/>
            <a:t>high-activity customers</a:t>
          </a:r>
          <a:r>
            <a:rPr lang="en-US" sz="1400" dirty="0" smtClean="0"/>
            <a:t> for cross-selling loans or investment products.</a:t>
          </a:r>
          <a:endParaRPr lang="en-US" sz="1400" dirty="0"/>
        </a:p>
      </dgm:t>
    </dgm:pt>
    <dgm:pt modelId="{2A3FEEAE-3910-4FAC-A335-1FED82BD4F59}" type="parTrans" cxnId="{95B5E5BB-D7C5-4BEC-B7EC-0B8F1E613B61}">
      <dgm:prSet/>
      <dgm:spPr/>
      <dgm:t>
        <a:bodyPr/>
        <a:lstStyle/>
        <a:p>
          <a:endParaRPr lang="en-US"/>
        </a:p>
      </dgm:t>
    </dgm:pt>
    <dgm:pt modelId="{ACEFC352-708B-494E-849E-95137C51A52F}" type="sibTrans" cxnId="{95B5E5BB-D7C5-4BEC-B7EC-0B8F1E613B61}">
      <dgm:prSet/>
      <dgm:spPr/>
      <dgm:t>
        <a:bodyPr/>
        <a:lstStyle/>
        <a:p>
          <a:endParaRPr lang="en-US"/>
        </a:p>
      </dgm:t>
    </dgm:pt>
    <dgm:pt modelId="{2775031D-65D1-47F7-AF21-D5A08A8A404C}" type="pres">
      <dgm:prSet presAssocID="{B1C598A2-F4E6-408E-BD9F-11C1F372FF8A}" presName="Name0" presStyleCnt="0">
        <dgm:presLayoutVars>
          <dgm:dir/>
          <dgm:resizeHandles val="exact"/>
        </dgm:presLayoutVars>
      </dgm:prSet>
      <dgm:spPr/>
      <dgm:t>
        <a:bodyPr/>
        <a:lstStyle/>
        <a:p>
          <a:endParaRPr lang="en-US"/>
        </a:p>
      </dgm:t>
    </dgm:pt>
    <dgm:pt modelId="{C0382468-E75B-43F3-8753-2AE0E4700554}" type="pres">
      <dgm:prSet presAssocID="{004EB416-5DC4-4714-8831-A4ADE765C430}" presName="node" presStyleLbl="node1" presStyleIdx="0" presStyleCnt="6" custLinFactNeighborX="1161" custLinFactNeighborY="1273">
        <dgm:presLayoutVars>
          <dgm:bulletEnabled val="1"/>
        </dgm:presLayoutVars>
      </dgm:prSet>
      <dgm:spPr/>
      <dgm:t>
        <a:bodyPr/>
        <a:lstStyle/>
        <a:p>
          <a:endParaRPr lang="en-US"/>
        </a:p>
      </dgm:t>
    </dgm:pt>
    <dgm:pt modelId="{DFBF3DC0-B686-466E-A934-A0E75760BCD6}" type="pres">
      <dgm:prSet presAssocID="{7A4956CD-E36C-4F22-B0CE-CD7DB5F49277}" presName="sibTrans" presStyleLbl="sibTrans2D1" presStyleIdx="0" presStyleCnt="5"/>
      <dgm:spPr/>
      <dgm:t>
        <a:bodyPr/>
        <a:lstStyle/>
        <a:p>
          <a:endParaRPr lang="en-US"/>
        </a:p>
      </dgm:t>
    </dgm:pt>
    <dgm:pt modelId="{0FCAA66D-87AD-45ED-8DEC-6F26D8CCB88F}" type="pres">
      <dgm:prSet presAssocID="{7A4956CD-E36C-4F22-B0CE-CD7DB5F49277}" presName="connectorText" presStyleLbl="sibTrans2D1" presStyleIdx="0" presStyleCnt="5"/>
      <dgm:spPr/>
      <dgm:t>
        <a:bodyPr/>
        <a:lstStyle/>
        <a:p>
          <a:endParaRPr lang="en-US"/>
        </a:p>
      </dgm:t>
    </dgm:pt>
    <dgm:pt modelId="{4A9A2A86-6368-4009-B88C-969652FD3A37}" type="pres">
      <dgm:prSet presAssocID="{2A83E83A-1D56-4032-A772-D566A4215D52}" presName="node" presStyleLbl="node1" presStyleIdx="1" presStyleCnt="6">
        <dgm:presLayoutVars>
          <dgm:bulletEnabled val="1"/>
        </dgm:presLayoutVars>
      </dgm:prSet>
      <dgm:spPr/>
      <dgm:t>
        <a:bodyPr/>
        <a:lstStyle/>
        <a:p>
          <a:endParaRPr lang="en-US"/>
        </a:p>
      </dgm:t>
    </dgm:pt>
    <dgm:pt modelId="{F333D65B-96AF-4651-92E6-B3FE64207F59}" type="pres">
      <dgm:prSet presAssocID="{F44FF86C-0937-4AEB-A9DD-E30F0232233F}" presName="sibTrans" presStyleLbl="sibTrans2D1" presStyleIdx="1" presStyleCnt="5"/>
      <dgm:spPr/>
      <dgm:t>
        <a:bodyPr/>
        <a:lstStyle/>
        <a:p>
          <a:endParaRPr lang="en-US"/>
        </a:p>
      </dgm:t>
    </dgm:pt>
    <dgm:pt modelId="{C48624F2-E642-4AEE-BBE2-2F7E86366928}" type="pres">
      <dgm:prSet presAssocID="{F44FF86C-0937-4AEB-A9DD-E30F0232233F}" presName="connectorText" presStyleLbl="sibTrans2D1" presStyleIdx="1" presStyleCnt="5"/>
      <dgm:spPr/>
      <dgm:t>
        <a:bodyPr/>
        <a:lstStyle/>
        <a:p>
          <a:endParaRPr lang="en-US"/>
        </a:p>
      </dgm:t>
    </dgm:pt>
    <dgm:pt modelId="{110BB255-0F77-41F1-A08D-A68FE25CC1F6}" type="pres">
      <dgm:prSet presAssocID="{6CEA9DEA-609B-4F58-A76B-16E28494CDE2}" presName="node" presStyleLbl="node1" presStyleIdx="2" presStyleCnt="6">
        <dgm:presLayoutVars>
          <dgm:bulletEnabled val="1"/>
        </dgm:presLayoutVars>
      </dgm:prSet>
      <dgm:spPr/>
      <dgm:t>
        <a:bodyPr/>
        <a:lstStyle/>
        <a:p>
          <a:endParaRPr lang="en-US"/>
        </a:p>
      </dgm:t>
    </dgm:pt>
    <dgm:pt modelId="{8FB66829-9547-41BA-BDD0-7FCB468B8345}" type="pres">
      <dgm:prSet presAssocID="{8FBCBC97-E63B-4FDC-93ED-0A51A26F8A8A}" presName="sibTrans" presStyleLbl="sibTrans2D1" presStyleIdx="2" presStyleCnt="5"/>
      <dgm:spPr/>
      <dgm:t>
        <a:bodyPr/>
        <a:lstStyle/>
        <a:p>
          <a:endParaRPr lang="en-US"/>
        </a:p>
      </dgm:t>
    </dgm:pt>
    <dgm:pt modelId="{0139E7BC-9625-400E-89DA-E122DE54178C}" type="pres">
      <dgm:prSet presAssocID="{8FBCBC97-E63B-4FDC-93ED-0A51A26F8A8A}" presName="connectorText" presStyleLbl="sibTrans2D1" presStyleIdx="2" presStyleCnt="5"/>
      <dgm:spPr/>
      <dgm:t>
        <a:bodyPr/>
        <a:lstStyle/>
        <a:p>
          <a:endParaRPr lang="en-US"/>
        </a:p>
      </dgm:t>
    </dgm:pt>
    <dgm:pt modelId="{0586FB19-B375-43A8-A7A1-4E916F519A33}" type="pres">
      <dgm:prSet presAssocID="{D507F88D-C98B-4B89-B2FE-DC1908AD9BCF}" presName="node" presStyleLbl="node1" presStyleIdx="3" presStyleCnt="6">
        <dgm:presLayoutVars>
          <dgm:bulletEnabled val="1"/>
        </dgm:presLayoutVars>
      </dgm:prSet>
      <dgm:spPr/>
      <dgm:t>
        <a:bodyPr/>
        <a:lstStyle/>
        <a:p>
          <a:endParaRPr lang="en-US"/>
        </a:p>
      </dgm:t>
    </dgm:pt>
    <dgm:pt modelId="{639DE1B3-A1BD-49FC-B312-355CF9BA89D1}" type="pres">
      <dgm:prSet presAssocID="{0B2FA26D-6275-4D90-A592-E882F2F76F74}" presName="sibTrans" presStyleLbl="sibTrans2D1" presStyleIdx="3" presStyleCnt="5"/>
      <dgm:spPr/>
      <dgm:t>
        <a:bodyPr/>
        <a:lstStyle/>
        <a:p>
          <a:endParaRPr lang="en-US"/>
        </a:p>
      </dgm:t>
    </dgm:pt>
    <dgm:pt modelId="{92F71EEE-E21F-4A10-8EC7-5A438EDC1F68}" type="pres">
      <dgm:prSet presAssocID="{0B2FA26D-6275-4D90-A592-E882F2F76F74}" presName="connectorText" presStyleLbl="sibTrans2D1" presStyleIdx="3" presStyleCnt="5"/>
      <dgm:spPr/>
      <dgm:t>
        <a:bodyPr/>
        <a:lstStyle/>
        <a:p>
          <a:endParaRPr lang="en-US"/>
        </a:p>
      </dgm:t>
    </dgm:pt>
    <dgm:pt modelId="{B5D45CFF-90C2-40F3-9626-A51594A8598E}" type="pres">
      <dgm:prSet presAssocID="{E341BD51-4A6D-4CB5-A1E8-A481704AFBB9}" presName="node" presStyleLbl="node1" presStyleIdx="4" presStyleCnt="6">
        <dgm:presLayoutVars>
          <dgm:bulletEnabled val="1"/>
        </dgm:presLayoutVars>
      </dgm:prSet>
      <dgm:spPr/>
      <dgm:t>
        <a:bodyPr/>
        <a:lstStyle/>
        <a:p>
          <a:endParaRPr lang="en-US"/>
        </a:p>
      </dgm:t>
    </dgm:pt>
    <dgm:pt modelId="{FCD4A3F1-9BF4-4B89-9D42-6BEC89344FDE}" type="pres">
      <dgm:prSet presAssocID="{9BAA7E5E-2849-43CC-8708-BE0C0E1C9C0D}" presName="sibTrans" presStyleLbl="sibTrans2D1" presStyleIdx="4" presStyleCnt="5"/>
      <dgm:spPr/>
      <dgm:t>
        <a:bodyPr/>
        <a:lstStyle/>
        <a:p>
          <a:endParaRPr lang="en-US"/>
        </a:p>
      </dgm:t>
    </dgm:pt>
    <dgm:pt modelId="{717EB911-AB6E-41BA-8BDE-2EFD547891C0}" type="pres">
      <dgm:prSet presAssocID="{9BAA7E5E-2849-43CC-8708-BE0C0E1C9C0D}" presName="connectorText" presStyleLbl="sibTrans2D1" presStyleIdx="4" presStyleCnt="5"/>
      <dgm:spPr/>
      <dgm:t>
        <a:bodyPr/>
        <a:lstStyle/>
        <a:p>
          <a:endParaRPr lang="en-US"/>
        </a:p>
      </dgm:t>
    </dgm:pt>
    <dgm:pt modelId="{9946C78D-A47C-49BD-B97F-9BAA4F5AEF02}" type="pres">
      <dgm:prSet presAssocID="{97051ABC-6728-4DA5-A632-19065E343933}" presName="node" presStyleLbl="node1" presStyleIdx="5" presStyleCnt="6">
        <dgm:presLayoutVars>
          <dgm:bulletEnabled val="1"/>
        </dgm:presLayoutVars>
      </dgm:prSet>
      <dgm:spPr/>
      <dgm:t>
        <a:bodyPr/>
        <a:lstStyle/>
        <a:p>
          <a:endParaRPr lang="en-US"/>
        </a:p>
      </dgm:t>
    </dgm:pt>
  </dgm:ptLst>
  <dgm:cxnLst>
    <dgm:cxn modelId="{F107D90D-1A70-4AE0-81C5-9B252DB16A51}" type="presOf" srcId="{004EB416-5DC4-4714-8831-A4ADE765C430}" destId="{C0382468-E75B-43F3-8753-2AE0E4700554}" srcOrd="0" destOrd="0" presId="urn:microsoft.com/office/officeart/2005/8/layout/process1"/>
    <dgm:cxn modelId="{D274CD7A-40AC-487A-ADB7-711DD324C67B}" type="presOf" srcId="{7A4956CD-E36C-4F22-B0CE-CD7DB5F49277}" destId="{DFBF3DC0-B686-466E-A934-A0E75760BCD6}" srcOrd="0" destOrd="0" presId="urn:microsoft.com/office/officeart/2005/8/layout/process1"/>
    <dgm:cxn modelId="{DD419707-40FD-42AD-8FEE-55AA62B83F30}" type="presOf" srcId="{0B2FA26D-6275-4D90-A592-E882F2F76F74}" destId="{639DE1B3-A1BD-49FC-B312-355CF9BA89D1}" srcOrd="0" destOrd="0" presId="urn:microsoft.com/office/officeart/2005/8/layout/process1"/>
    <dgm:cxn modelId="{84DB173C-36BF-4544-ABB0-E3F84F325F1C}" type="presOf" srcId="{8FBCBC97-E63B-4FDC-93ED-0A51A26F8A8A}" destId="{8FB66829-9547-41BA-BDD0-7FCB468B8345}" srcOrd="0" destOrd="0" presId="urn:microsoft.com/office/officeart/2005/8/layout/process1"/>
    <dgm:cxn modelId="{82DF0652-8DF2-430C-BD38-19C374E0366F}" type="presOf" srcId="{F44FF86C-0937-4AEB-A9DD-E30F0232233F}" destId="{C48624F2-E642-4AEE-BBE2-2F7E86366928}" srcOrd="1" destOrd="0" presId="urn:microsoft.com/office/officeart/2005/8/layout/process1"/>
    <dgm:cxn modelId="{6774CC63-B95B-4231-841D-A689DA33B369}" type="presOf" srcId="{6CEA9DEA-609B-4F58-A76B-16E28494CDE2}" destId="{110BB255-0F77-41F1-A08D-A68FE25CC1F6}" srcOrd="0" destOrd="0" presId="urn:microsoft.com/office/officeart/2005/8/layout/process1"/>
    <dgm:cxn modelId="{D4F26D6B-7720-41BA-968D-C9062BEC0B3E}" type="presOf" srcId="{7A4956CD-E36C-4F22-B0CE-CD7DB5F49277}" destId="{0FCAA66D-87AD-45ED-8DEC-6F26D8CCB88F}" srcOrd="1" destOrd="0" presId="urn:microsoft.com/office/officeart/2005/8/layout/process1"/>
    <dgm:cxn modelId="{EB3EA4DB-5907-4BD8-9856-47E556F9AE5A}" type="presOf" srcId="{2A83E83A-1D56-4032-A772-D566A4215D52}" destId="{4A9A2A86-6368-4009-B88C-969652FD3A37}" srcOrd="0" destOrd="0" presId="urn:microsoft.com/office/officeart/2005/8/layout/process1"/>
    <dgm:cxn modelId="{6A560A4A-19E0-414A-8C76-90CAA72533B1}" type="presOf" srcId="{97051ABC-6728-4DA5-A632-19065E343933}" destId="{9946C78D-A47C-49BD-B97F-9BAA4F5AEF02}" srcOrd="0" destOrd="0" presId="urn:microsoft.com/office/officeart/2005/8/layout/process1"/>
    <dgm:cxn modelId="{95424E21-1541-46E1-AE7F-3C08029A867F}" type="presOf" srcId="{F44FF86C-0937-4AEB-A9DD-E30F0232233F}" destId="{F333D65B-96AF-4651-92E6-B3FE64207F59}" srcOrd="0" destOrd="0" presId="urn:microsoft.com/office/officeart/2005/8/layout/process1"/>
    <dgm:cxn modelId="{68CA6376-1DCD-4341-B007-74F35DC4E025}" type="presOf" srcId="{9BAA7E5E-2849-43CC-8708-BE0C0E1C9C0D}" destId="{717EB911-AB6E-41BA-8BDE-2EFD547891C0}" srcOrd="1" destOrd="0" presId="urn:microsoft.com/office/officeart/2005/8/layout/process1"/>
    <dgm:cxn modelId="{40FC87E6-7D21-4E2E-8CC0-7CA558552963}" srcId="{B1C598A2-F4E6-408E-BD9F-11C1F372FF8A}" destId="{E341BD51-4A6D-4CB5-A1E8-A481704AFBB9}" srcOrd="4" destOrd="0" parTransId="{ADA1D3FE-1CB0-40C0-B775-536BB0EE6F2B}" sibTransId="{9BAA7E5E-2849-43CC-8708-BE0C0E1C9C0D}"/>
    <dgm:cxn modelId="{B583B00C-267F-42DA-9783-F759C31CC1FB}" type="presOf" srcId="{8FBCBC97-E63B-4FDC-93ED-0A51A26F8A8A}" destId="{0139E7BC-9625-400E-89DA-E122DE54178C}" srcOrd="1" destOrd="0" presId="urn:microsoft.com/office/officeart/2005/8/layout/process1"/>
    <dgm:cxn modelId="{4B9CF79C-8BFE-4B2C-8417-B346AF45ECAA}" srcId="{B1C598A2-F4E6-408E-BD9F-11C1F372FF8A}" destId="{2A83E83A-1D56-4032-A772-D566A4215D52}" srcOrd="1" destOrd="0" parTransId="{8CA768C7-8F55-4249-BEF3-E5AB2D679013}" sibTransId="{F44FF86C-0937-4AEB-A9DD-E30F0232233F}"/>
    <dgm:cxn modelId="{1D737378-DCB7-444D-9C2A-8E58E73C369A}" type="presOf" srcId="{D507F88D-C98B-4B89-B2FE-DC1908AD9BCF}" destId="{0586FB19-B375-43A8-A7A1-4E916F519A33}" srcOrd="0" destOrd="0" presId="urn:microsoft.com/office/officeart/2005/8/layout/process1"/>
    <dgm:cxn modelId="{302A3E74-A97E-4166-A085-8F082C9C87E4}" type="presOf" srcId="{B1C598A2-F4E6-408E-BD9F-11C1F372FF8A}" destId="{2775031D-65D1-47F7-AF21-D5A08A8A404C}" srcOrd="0" destOrd="0" presId="urn:microsoft.com/office/officeart/2005/8/layout/process1"/>
    <dgm:cxn modelId="{95B5E5BB-D7C5-4BEC-B7EC-0B8F1E613B61}" srcId="{B1C598A2-F4E6-408E-BD9F-11C1F372FF8A}" destId="{97051ABC-6728-4DA5-A632-19065E343933}" srcOrd="5" destOrd="0" parTransId="{2A3FEEAE-3910-4FAC-A335-1FED82BD4F59}" sibTransId="{ACEFC352-708B-494E-849E-95137C51A52F}"/>
    <dgm:cxn modelId="{052403F2-C51A-490D-BB60-CFC1F3D97848}" srcId="{B1C598A2-F4E6-408E-BD9F-11C1F372FF8A}" destId="{004EB416-5DC4-4714-8831-A4ADE765C430}" srcOrd="0" destOrd="0" parTransId="{610EBA70-A6DE-45F6-A501-9398747AD148}" sibTransId="{7A4956CD-E36C-4F22-B0CE-CD7DB5F49277}"/>
    <dgm:cxn modelId="{B0E7E019-E75C-4CE5-8483-E043EE8B8ABF}" srcId="{B1C598A2-F4E6-408E-BD9F-11C1F372FF8A}" destId="{D507F88D-C98B-4B89-B2FE-DC1908AD9BCF}" srcOrd="3" destOrd="0" parTransId="{76761D8D-0FA6-4510-BADC-1ECB5916A74E}" sibTransId="{0B2FA26D-6275-4D90-A592-E882F2F76F74}"/>
    <dgm:cxn modelId="{EC1634DF-55E1-467B-A2CA-64686E3C6D54}" type="presOf" srcId="{0B2FA26D-6275-4D90-A592-E882F2F76F74}" destId="{92F71EEE-E21F-4A10-8EC7-5A438EDC1F68}" srcOrd="1" destOrd="0" presId="urn:microsoft.com/office/officeart/2005/8/layout/process1"/>
    <dgm:cxn modelId="{EF9D0AB8-013B-493F-A050-8DE0C1BFE4E3}" srcId="{B1C598A2-F4E6-408E-BD9F-11C1F372FF8A}" destId="{6CEA9DEA-609B-4F58-A76B-16E28494CDE2}" srcOrd="2" destOrd="0" parTransId="{78A276E9-6961-4A2A-913B-79DD8FDD7D56}" sibTransId="{8FBCBC97-E63B-4FDC-93ED-0A51A26F8A8A}"/>
    <dgm:cxn modelId="{73F63D0D-A278-4D39-A811-879746E36D90}" type="presOf" srcId="{E341BD51-4A6D-4CB5-A1E8-A481704AFBB9}" destId="{B5D45CFF-90C2-40F3-9626-A51594A8598E}" srcOrd="0" destOrd="0" presId="urn:microsoft.com/office/officeart/2005/8/layout/process1"/>
    <dgm:cxn modelId="{26F38877-DB79-4C44-B66B-2528C0D5A9B4}" type="presOf" srcId="{9BAA7E5E-2849-43CC-8708-BE0C0E1C9C0D}" destId="{FCD4A3F1-9BF4-4B89-9D42-6BEC89344FDE}" srcOrd="0" destOrd="0" presId="urn:microsoft.com/office/officeart/2005/8/layout/process1"/>
    <dgm:cxn modelId="{7EED9498-2E54-4CB3-B075-473E860FE4F4}" type="presParOf" srcId="{2775031D-65D1-47F7-AF21-D5A08A8A404C}" destId="{C0382468-E75B-43F3-8753-2AE0E4700554}" srcOrd="0" destOrd="0" presId="urn:microsoft.com/office/officeart/2005/8/layout/process1"/>
    <dgm:cxn modelId="{1A46954C-31E8-4509-A0CC-C95B5CF1BE4E}" type="presParOf" srcId="{2775031D-65D1-47F7-AF21-D5A08A8A404C}" destId="{DFBF3DC0-B686-466E-A934-A0E75760BCD6}" srcOrd="1" destOrd="0" presId="urn:microsoft.com/office/officeart/2005/8/layout/process1"/>
    <dgm:cxn modelId="{C75983B5-93E7-4798-A04A-36F479D00C7C}" type="presParOf" srcId="{DFBF3DC0-B686-466E-A934-A0E75760BCD6}" destId="{0FCAA66D-87AD-45ED-8DEC-6F26D8CCB88F}" srcOrd="0" destOrd="0" presId="urn:microsoft.com/office/officeart/2005/8/layout/process1"/>
    <dgm:cxn modelId="{62A32389-9BB9-486D-BD4A-A2523B3BBE55}" type="presParOf" srcId="{2775031D-65D1-47F7-AF21-D5A08A8A404C}" destId="{4A9A2A86-6368-4009-B88C-969652FD3A37}" srcOrd="2" destOrd="0" presId="urn:microsoft.com/office/officeart/2005/8/layout/process1"/>
    <dgm:cxn modelId="{79A9B6FF-0682-4EFF-BE55-A31C4D31445E}" type="presParOf" srcId="{2775031D-65D1-47F7-AF21-D5A08A8A404C}" destId="{F333D65B-96AF-4651-92E6-B3FE64207F59}" srcOrd="3" destOrd="0" presId="urn:microsoft.com/office/officeart/2005/8/layout/process1"/>
    <dgm:cxn modelId="{BF50D37E-D53E-4E89-B418-1C7E750C9D4E}" type="presParOf" srcId="{F333D65B-96AF-4651-92E6-B3FE64207F59}" destId="{C48624F2-E642-4AEE-BBE2-2F7E86366928}" srcOrd="0" destOrd="0" presId="urn:microsoft.com/office/officeart/2005/8/layout/process1"/>
    <dgm:cxn modelId="{691A5BCE-AC2A-4D90-B402-F49E14B84CF1}" type="presParOf" srcId="{2775031D-65D1-47F7-AF21-D5A08A8A404C}" destId="{110BB255-0F77-41F1-A08D-A68FE25CC1F6}" srcOrd="4" destOrd="0" presId="urn:microsoft.com/office/officeart/2005/8/layout/process1"/>
    <dgm:cxn modelId="{7903C071-1BD7-4EB3-98D8-75329FECB3DA}" type="presParOf" srcId="{2775031D-65D1-47F7-AF21-D5A08A8A404C}" destId="{8FB66829-9547-41BA-BDD0-7FCB468B8345}" srcOrd="5" destOrd="0" presId="urn:microsoft.com/office/officeart/2005/8/layout/process1"/>
    <dgm:cxn modelId="{C9446869-3220-4987-88B1-40E391F84D25}" type="presParOf" srcId="{8FB66829-9547-41BA-BDD0-7FCB468B8345}" destId="{0139E7BC-9625-400E-89DA-E122DE54178C}" srcOrd="0" destOrd="0" presId="urn:microsoft.com/office/officeart/2005/8/layout/process1"/>
    <dgm:cxn modelId="{6CC59528-80CC-4D14-98C7-23184C8FF315}" type="presParOf" srcId="{2775031D-65D1-47F7-AF21-D5A08A8A404C}" destId="{0586FB19-B375-43A8-A7A1-4E916F519A33}" srcOrd="6" destOrd="0" presId="urn:microsoft.com/office/officeart/2005/8/layout/process1"/>
    <dgm:cxn modelId="{22664A8F-81E8-4819-B079-F12903CB7B2E}" type="presParOf" srcId="{2775031D-65D1-47F7-AF21-D5A08A8A404C}" destId="{639DE1B3-A1BD-49FC-B312-355CF9BA89D1}" srcOrd="7" destOrd="0" presId="urn:microsoft.com/office/officeart/2005/8/layout/process1"/>
    <dgm:cxn modelId="{74F1DFD4-8552-4EB6-B74B-C7BC6A0BDE64}" type="presParOf" srcId="{639DE1B3-A1BD-49FC-B312-355CF9BA89D1}" destId="{92F71EEE-E21F-4A10-8EC7-5A438EDC1F68}" srcOrd="0" destOrd="0" presId="urn:microsoft.com/office/officeart/2005/8/layout/process1"/>
    <dgm:cxn modelId="{A238B273-9742-4D13-9D99-60F992AEE772}" type="presParOf" srcId="{2775031D-65D1-47F7-AF21-D5A08A8A404C}" destId="{B5D45CFF-90C2-40F3-9626-A51594A8598E}" srcOrd="8" destOrd="0" presId="urn:microsoft.com/office/officeart/2005/8/layout/process1"/>
    <dgm:cxn modelId="{A44D5E4E-448E-430E-9240-2D9A871D17F0}" type="presParOf" srcId="{2775031D-65D1-47F7-AF21-D5A08A8A404C}" destId="{FCD4A3F1-9BF4-4B89-9D42-6BEC89344FDE}" srcOrd="9" destOrd="0" presId="urn:microsoft.com/office/officeart/2005/8/layout/process1"/>
    <dgm:cxn modelId="{801E6DB4-2AEA-41D3-9B45-AA1EE7BB7CFC}" type="presParOf" srcId="{FCD4A3F1-9BF4-4B89-9D42-6BEC89344FDE}" destId="{717EB911-AB6E-41BA-8BDE-2EFD547891C0}" srcOrd="0" destOrd="0" presId="urn:microsoft.com/office/officeart/2005/8/layout/process1"/>
    <dgm:cxn modelId="{969011B3-3322-43E2-9812-EAA072B1A8B9}" type="presParOf" srcId="{2775031D-65D1-47F7-AF21-D5A08A8A404C}" destId="{9946C78D-A47C-49BD-B97F-9BAA4F5AEF02}"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27DAE44-6F51-4B6C-8F80-2FE4F733C55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FC320EA-3852-47E6-A580-4FDEB5149CFA}">
      <dgm:prSet/>
      <dgm:spPr/>
      <dgm:t>
        <a:bodyPr/>
        <a:lstStyle/>
        <a:p>
          <a:pPr rtl="0"/>
          <a:r>
            <a:rPr lang="en-US" b="1" smtClean="0"/>
            <a:t>📈 Insights:</a:t>
          </a:r>
          <a:endParaRPr lang="en-US" b="1"/>
        </a:p>
      </dgm:t>
    </dgm:pt>
    <dgm:pt modelId="{59F730A4-5983-4D80-B24E-638B1E12DCBF}" type="parTrans" cxnId="{240811CF-DC3C-461C-A67B-35144F3CD7B5}">
      <dgm:prSet/>
      <dgm:spPr/>
      <dgm:t>
        <a:bodyPr/>
        <a:lstStyle/>
        <a:p>
          <a:endParaRPr lang="en-US"/>
        </a:p>
      </dgm:t>
    </dgm:pt>
    <dgm:pt modelId="{7A5416E1-5BC9-4113-84BF-5E93DA78C77E}" type="sibTrans" cxnId="{240811CF-DC3C-461C-A67B-35144F3CD7B5}">
      <dgm:prSet/>
      <dgm:spPr/>
      <dgm:t>
        <a:bodyPr/>
        <a:lstStyle/>
        <a:p>
          <a:endParaRPr lang="en-US"/>
        </a:p>
      </dgm:t>
    </dgm:pt>
    <dgm:pt modelId="{87994561-57D1-4546-8B9A-7579F1E61F76}">
      <dgm:prSet/>
      <dgm:spPr/>
      <dgm:t>
        <a:bodyPr/>
        <a:lstStyle/>
        <a:p>
          <a:pPr rtl="0"/>
          <a:r>
            <a:rPr lang="en-US" b="1" dirty="0" smtClean="0"/>
            <a:t>Online &amp; ATM Dominate</a:t>
          </a:r>
          <a:r>
            <a:rPr lang="en-US" dirty="0" smtClean="0"/>
            <a:t> (1.6M each) → Digital transactions are </a:t>
          </a:r>
          <a:r>
            <a:rPr lang="en-US" b="1" dirty="0" smtClean="0"/>
            <a:t>more active than branch/POS</a:t>
          </a:r>
          <a:r>
            <a:rPr lang="en-US" dirty="0" smtClean="0"/>
            <a:t>.</a:t>
          </a:r>
          <a:endParaRPr lang="en-US" dirty="0"/>
        </a:p>
      </dgm:t>
    </dgm:pt>
    <dgm:pt modelId="{347E5FDD-C4F5-4B9D-8194-3171D4025DD4}" type="parTrans" cxnId="{B9DC1DE1-E359-40FA-964F-F7FB0F7FC924}">
      <dgm:prSet/>
      <dgm:spPr/>
      <dgm:t>
        <a:bodyPr/>
        <a:lstStyle/>
        <a:p>
          <a:endParaRPr lang="en-US"/>
        </a:p>
      </dgm:t>
    </dgm:pt>
    <dgm:pt modelId="{6FFBC0D6-427F-48CE-84AA-195ED855BAE2}" type="sibTrans" cxnId="{B9DC1DE1-E359-40FA-964F-F7FB0F7FC924}">
      <dgm:prSet/>
      <dgm:spPr/>
      <dgm:t>
        <a:bodyPr/>
        <a:lstStyle/>
        <a:p>
          <a:endParaRPr lang="en-US"/>
        </a:p>
      </dgm:t>
    </dgm:pt>
    <dgm:pt modelId="{44C67B18-78D8-4E5E-8C96-6E065D7D369E}">
      <dgm:prSet/>
      <dgm:spPr/>
      <dgm:t>
        <a:bodyPr/>
        <a:lstStyle/>
        <a:p>
          <a:pPr rtl="0"/>
          <a:r>
            <a:rPr lang="en-US" dirty="0" smtClean="0"/>
            <a:t>Traditional banking remains relevant and usage is still strong (1.5–1.6M) </a:t>
          </a:r>
          <a:endParaRPr lang="en-US" dirty="0"/>
        </a:p>
      </dgm:t>
    </dgm:pt>
    <dgm:pt modelId="{140A3FD3-3309-47B4-8EDE-8CC047017050}" type="parTrans" cxnId="{8F70D408-03E9-4816-AA4E-B12E62F4AEDF}">
      <dgm:prSet/>
      <dgm:spPr/>
      <dgm:t>
        <a:bodyPr/>
        <a:lstStyle/>
        <a:p>
          <a:endParaRPr lang="en-US"/>
        </a:p>
      </dgm:t>
    </dgm:pt>
    <dgm:pt modelId="{15EA0790-80F4-4F89-AC6F-7702118BE4EC}" type="sibTrans" cxnId="{8F70D408-03E9-4816-AA4E-B12E62F4AEDF}">
      <dgm:prSet/>
      <dgm:spPr/>
      <dgm:t>
        <a:bodyPr/>
        <a:lstStyle/>
        <a:p>
          <a:endParaRPr lang="en-US"/>
        </a:p>
      </dgm:t>
    </dgm:pt>
    <dgm:pt modelId="{A28964E7-1C1B-4C8C-B0B7-739A4E230635}">
      <dgm:prSet/>
      <dgm:spPr/>
      <dgm:t>
        <a:bodyPr/>
        <a:lstStyle/>
        <a:p>
          <a:pPr rtl="0"/>
          <a:r>
            <a:rPr lang="en-US" smtClean="0"/>
            <a:t>We can Push </a:t>
          </a:r>
          <a:r>
            <a:rPr lang="en-US" b="1" smtClean="0"/>
            <a:t>digital banking campaigns</a:t>
          </a:r>
          <a:r>
            <a:rPr lang="en-US" smtClean="0"/>
            <a:t> to reduce branch load.</a:t>
          </a:r>
          <a:endParaRPr lang="en-US"/>
        </a:p>
      </dgm:t>
    </dgm:pt>
    <dgm:pt modelId="{58ED1752-88A4-4AA9-A4A9-0D2EE35513E1}" type="parTrans" cxnId="{AA9EE8D5-1B77-4866-BAEB-34C927D1D63A}">
      <dgm:prSet/>
      <dgm:spPr/>
      <dgm:t>
        <a:bodyPr/>
        <a:lstStyle/>
        <a:p>
          <a:endParaRPr lang="en-US"/>
        </a:p>
      </dgm:t>
    </dgm:pt>
    <dgm:pt modelId="{D3EE40DD-B80A-49E8-876A-D9CDE85E282A}" type="sibTrans" cxnId="{AA9EE8D5-1B77-4866-BAEB-34C927D1D63A}">
      <dgm:prSet/>
      <dgm:spPr/>
      <dgm:t>
        <a:bodyPr/>
        <a:lstStyle/>
        <a:p>
          <a:endParaRPr lang="en-US"/>
        </a:p>
      </dgm:t>
    </dgm:pt>
    <dgm:pt modelId="{4F9A8178-C83A-4424-A749-C013FF2C4646}" type="pres">
      <dgm:prSet presAssocID="{227DAE44-6F51-4B6C-8F80-2FE4F733C55B}" presName="linear" presStyleCnt="0">
        <dgm:presLayoutVars>
          <dgm:animLvl val="lvl"/>
          <dgm:resizeHandles val="exact"/>
        </dgm:presLayoutVars>
      </dgm:prSet>
      <dgm:spPr/>
      <dgm:t>
        <a:bodyPr/>
        <a:lstStyle/>
        <a:p>
          <a:endParaRPr lang="en-US"/>
        </a:p>
      </dgm:t>
    </dgm:pt>
    <dgm:pt modelId="{1A7EEEC3-B22E-41DF-BA54-0FD53226478B}" type="pres">
      <dgm:prSet presAssocID="{DFC320EA-3852-47E6-A580-4FDEB5149CFA}" presName="parentText" presStyleLbl="node1" presStyleIdx="0" presStyleCnt="4" custLinFactNeighborY="19080">
        <dgm:presLayoutVars>
          <dgm:chMax val="0"/>
          <dgm:bulletEnabled val="1"/>
        </dgm:presLayoutVars>
      </dgm:prSet>
      <dgm:spPr/>
      <dgm:t>
        <a:bodyPr/>
        <a:lstStyle/>
        <a:p>
          <a:endParaRPr lang="en-US"/>
        </a:p>
      </dgm:t>
    </dgm:pt>
    <dgm:pt modelId="{E7E2477E-DE7E-4C56-A7B7-DD58C325D27D}" type="pres">
      <dgm:prSet presAssocID="{7A5416E1-5BC9-4113-84BF-5E93DA78C77E}" presName="spacer" presStyleCnt="0"/>
      <dgm:spPr/>
    </dgm:pt>
    <dgm:pt modelId="{C644E519-3F60-40FB-9B57-C0FDAF8931C0}" type="pres">
      <dgm:prSet presAssocID="{87994561-57D1-4546-8B9A-7579F1E61F76}" presName="parentText" presStyleLbl="node1" presStyleIdx="1" presStyleCnt="4">
        <dgm:presLayoutVars>
          <dgm:chMax val="0"/>
          <dgm:bulletEnabled val="1"/>
        </dgm:presLayoutVars>
      </dgm:prSet>
      <dgm:spPr/>
      <dgm:t>
        <a:bodyPr/>
        <a:lstStyle/>
        <a:p>
          <a:endParaRPr lang="en-US"/>
        </a:p>
      </dgm:t>
    </dgm:pt>
    <dgm:pt modelId="{3CE182D9-2170-4521-9919-B4AF2C410E84}" type="pres">
      <dgm:prSet presAssocID="{6FFBC0D6-427F-48CE-84AA-195ED855BAE2}" presName="spacer" presStyleCnt="0"/>
      <dgm:spPr/>
    </dgm:pt>
    <dgm:pt modelId="{CBC920CB-95D3-4F49-900B-FCCA498902CB}" type="pres">
      <dgm:prSet presAssocID="{44C67B18-78D8-4E5E-8C96-6E065D7D369E}" presName="parentText" presStyleLbl="node1" presStyleIdx="2" presStyleCnt="4">
        <dgm:presLayoutVars>
          <dgm:chMax val="0"/>
          <dgm:bulletEnabled val="1"/>
        </dgm:presLayoutVars>
      </dgm:prSet>
      <dgm:spPr/>
      <dgm:t>
        <a:bodyPr/>
        <a:lstStyle/>
        <a:p>
          <a:endParaRPr lang="en-US"/>
        </a:p>
      </dgm:t>
    </dgm:pt>
    <dgm:pt modelId="{B5E506D3-F7B3-474B-80F1-5CF9B6CDE20F}" type="pres">
      <dgm:prSet presAssocID="{15EA0790-80F4-4F89-AC6F-7702118BE4EC}" presName="spacer" presStyleCnt="0"/>
      <dgm:spPr/>
    </dgm:pt>
    <dgm:pt modelId="{9334143F-6375-4C04-B6B9-0453E61B5715}" type="pres">
      <dgm:prSet presAssocID="{A28964E7-1C1B-4C8C-B0B7-739A4E230635}" presName="parentText" presStyleLbl="node1" presStyleIdx="3" presStyleCnt="4">
        <dgm:presLayoutVars>
          <dgm:chMax val="0"/>
          <dgm:bulletEnabled val="1"/>
        </dgm:presLayoutVars>
      </dgm:prSet>
      <dgm:spPr/>
      <dgm:t>
        <a:bodyPr/>
        <a:lstStyle/>
        <a:p>
          <a:endParaRPr lang="en-US"/>
        </a:p>
      </dgm:t>
    </dgm:pt>
  </dgm:ptLst>
  <dgm:cxnLst>
    <dgm:cxn modelId="{B9DC1DE1-E359-40FA-964F-F7FB0F7FC924}" srcId="{227DAE44-6F51-4B6C-8F80-2FE4F733C55B}" destId="{87994561-57D1-4546-8B9A-7579F1E61F76}" srcOrd="1" destOrd="0" parTransId="{347E5FDD-C4F5-4B9D-8194-3171D4025DD4}" sibTransId="{6FFBC0D6-427F-48CE-84AA-195ED855BAE2}"/>
    <dgm:cxn modelId="{11765E18-821E-48CD-9196-49D057DDDB2C}" type="presOf" srcId="{A28964E7-1C1B-4C8C-B0B7-739A4E230635}" destId="{9334143F-6375-4C04-B6B9-0453E61B5715}" srcOrd="0" destOrd="0" presId="urn:microsoft.com/office/officeart/2005/8/layout/vList2"/>
    <dgm:cxn modelId="{CC7627A7-212D-49B9-9749-2D353BF1EA56}" type="presOf" srcId="{DFC320EA-3852-47E6-A580-4FDEB5149CFA}" destId="{1A7EEEC3-B22E-41DF-BA54-0FD53226478B}" srcOrd="0" destOrd="0" presId="urn:microsoft.com/office/officeart/2005/8/layout/vList2"/>
    <dgm:cxn modelId="{E5C87066-304C-46FB-9AE0-3FBA7FA8EB7D}" type="presOf" srcId="{44C67B18-78D8-4E5E-8C96-6E065D7D369E}" destId="{CBC920CB-95D3-4F49-900B-FCCA498902CB}" srcOrd="0" destOrd="0" presId="urn:microsoft.com/office/officeart/2005/8/layout/vList2"/>
    <dgm:cxn modelId="{3F766E9B-9F0C-433D-B730-D321E272860A}" type="presOf" srcId="{227DAE44-6F51-4B6C-8F80-2FE4F733C55B}" destId="{4F9A8178-C83A-4424-A749-C013FF2C4646}" srcOrd="0" destOrd="0" presId="urn:microsoft.com/office/officeart/2005/8/layout/vList2"/>
    <dgm:cxn modelId="{63668E00-070B-4BCD-B513-519B69370DFC}" type="presOf" srcId="{87994561-57D1-4546-8B9A-7579F1E61F76}" destId="{C644E519-3F60-40FB-9B57-C0FDAF8931C0}" srcOrd="0" destOrd="0" presId="urn:microsoft.com/office/officeart/2005/8/layout/vList2"/>
    <dgm:cxn modelId="{AA9EE8D5-1B77-4866-BAEB-34C927D1D63A}" srcId="{227DAE44-6F51-4B6C-8F80-2FE4F733C55B}" destId="{A28964E7-1C1B-4C8C-B0B7-739A4E230635}" srcOrd="3" destOrd="0" parTransId="{58ED1752-88A4-4AA9-A4A9-0D2EE35513E1}" sibTransId="{D3EE40DD-B80A-49E8-876A-D9CDE85E282A}"/>
    <dgm:cxn modelId="{8F70D408-03E9-4816-AA4E-B12E62F4AEDF}" srcId="{227DAE44-6F51-4B6C-8F80-2FE4F733C55B}" destId="{44C67B18-78D8-4E5E-8C96-6E065D7D369E}" srcOrd="2" destOrd="0" parTransId="{140A3FD3-3309-47B4-8EDE-8CC047017050}" sibTransId="{15EA0790-80F4-4F89-AC6F-7702118BE4EC}"/>
    <dgm:cxn modelId="{240811CF-DC3C-461C-A67B-35144F3CD7B5}" srcId="{227DAE44-6F51-4B6C-8F80-2FE4F733C55B}" destId="{DFC320EA-3852-47E6-A580-4FDEB5149CFA}" srcOrd="0" destOrd="0" parTransId="{59F730A4-5983-4D80-B24E-638B1E12DCBF}" sibTransId="{7A5416E1-5BC9-4113-84BF-5E93DA78C77E}"/>
    <dgm:cxn modelId="{C88E7E3E-D67F-4423-9684-09C6F162009C}" type="presParOf" srcId="{4F9A8178-C83A-4424-A749-C013FF2C4646}" destId="{1A7EEEC3-B22E-41DF-BA54-0FD53226478B}" srcOrd="0" destOrd="0" presId="urn:microsoft.com/office/officeart/2005/8/layout/vList2"/>
    <dgm:cxn modelId="{200A782C-9D47-4176-A976-3082B64348B2}" type="presParOf" srcId="{4F9A8178-C83A-4424-A749-C013FF2C4646}" destId="{E7E2477E-DE7E-4C56-A7B7-DD58C325D27D}" srcOrd="1" destOrd="0" presId="urn:microsoft.com/office/officeart/2005/8/layout/vList2"/>
    <dgm:cxn modelId="{82D36683-889F-4EAA-B05C-B45B5EE3E7B9}" type="presParOf" srcId="{4F9A8178-C83A-4424-A749-C013FF2C4646}" destId="{C644E519-3F60-40FB-9B57-C0FDAF8931C0}" srcOrd="2" destOrd="0" presId="urn:microsoft.com/office/officeart/2005/8/layout/vList2"/>
    <dgm:cxn modelId="{17193AE7-DE90-42B7-88B3-5A52E01AF576}" type="presParOf" srcId="{4F9A8178-C83A-4424-A749-C013FF2C4646}" destId="{3CE182D9-2170-4521-9919-B4AF2C410E84}" srcOrd="3" destOrd="0" presId="urn:microsoft.com/office/officeart/2005/8/layout/vList2"/>
    <dgm:cxn modelId="{4C158498-06DD-49AE-8372-366DC11A1FB8}" type="presParOf" srcId="{4F9A8178-C83A-4424-A749-C013FF2C4646}" destId="{CBC920CB-95D3-4F49-900B-FCCA498902CB}" srcOrd="4" destOrd="0" presId="urn:microsoft.com/office/officeart/2005/8/layout/vList2"/>
    <dgm:cxn modelId="{BB1E95D1-50DD-4BF0-BBF2-2C8D228E874B}" type="presParOf" srcId="{4F9A8178-C83A-4424-A749-C013FF2C4646}" destId="{B5E506D3-F7B3-474B-80F1-5CF9B6CDE20F}" srcOrd="5" destOrd="0" presId="urn:microsoft.com/office/officeart/2005/8/layout/vList2"/>
    <dgm:cxn modelId="{C8FD4B78-D31C-49BA-9905-1B0DCA1795AA}" type="presParOf" srcId="{4F9A8178-C83A-4424-A749-C013FF2C4646}" destId="{9334143F-6375-4C04-B6B9-0453E61B571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DE0407D-3B93-4B02-8D6C-C6B10F9B045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7D5F915-24B9-4CE1-99AB-DB1C0BB8E153}">
      <dgm:prSet/>
      <dgm:spPr/>
      <dgm:t>
        <a:bodyPr/>
        <a:lstStyle/>
        <a:p>
          <a:pPr rtl="0"/>
          <a:r>
            <a:rPr lang="en-US" b="1" smtClean="0"/>
            <a:t>📈 Insights:</a:t>
          </a:r>
          <a:endParaRPr lang="en-US"/>
        </a:p>
      </dgm:t>
    </dgm:pt>
    <dgm:pt modelId="{5F17DECC-4593-4229-9B20-2B22CB2FA88B}" type="parTrans" cxnId="{7F36D3A0-A6B6-4712-A84A-3BF4058F98C0}">
      <dgm:prSet/>
      <dgm:spPr/>
      <dgm:t>
        <a:bodyPr/>
        <a:lstStyle/>
        <a:p>
          <a:endParaRPr lang="en-US"/>
        </a:p>
      </dgm:t>
    </dgm:pt>
    <dgm:pt modelId="{F6B676F8-0D80-4047-8B14-5C11DEB731A6}" type="sibTrans" cxnId="{7F36D3A0-A6B6-4712-A84A-3BF4058F98C0}">
      <dgm:prSet/>
      <dgm:spPr/>
      <dgm:t>
        <a:bodyPr/>
        <a:lstStyle/>
        <a:p>
          <a:endParaRPr lang="en-US"/>
        </a:p>
      </dgm:t>
    </dgm:pt>
    <dgm:pt modelId="{8FDBAA0D-23EE-4364-9864-D7D8280C1B20}">
      <dgm:prSet/>
      <dgm:spPr/>
      <dgm:t>
        <a:bodyPr/>
        <a:lstStyle/>
        <a:p>
          <a:pPr rtl="0"/>
          <a:r>
            <a:rPr lang="en-US" dirty="0" smtClean="0"/>
            <a:t>Top 5 accounts contribute very high debit volume </a:t>
          </a:r>
          <a:r>
            <a:rPr lang="en-US" dirty="0" smtClean="0"/>
            <a:t>(₹</a:t>
          </a:r>
          <a:r>
            <a:rPr lang="en-US" dirty="0" smtClean="0"/>
            <a:t>380K total).</a:t>
          </a:r>
          <a:endParaRPr lang="en-US" dirty="0"/>
        </a:p>
      </dgm:t>
    </dgm:pt>
    <dgm:pt modelId="{BD9B1C45-A819-481E-AC15-467B31AD5BD9}" type="parTrans" cxnId="{B0C41818-1037-4F35-B27B-D81E1D1267AF}">
      <dgm:prSet/>
      <dgm:spPr/>
      <dgm:t>
        <a:bodyPr/>
        <a:lstStyle/>
        <a:p>
          <a:endParaRPr lang="en-US"/>
        </a:p>
      </dgm:t>
    </dgm:pt>
    <dgm:pt modelId="{329BA372-346C-4B63-B08E-4A4E0B33594E}" type="sibTrans" cxnId="{B0C41818-1037-4F35-B27B-D81E1D1267AF}">
      <dgm:prSet/>
      <dgm:spPr/>
      <dgm:t>
        <a:bodyPr/>
        <a:lstStyle/>
        <a:p>
          <a:endParaRPr lang="en-US"/>
        </a:p>
      </dgm:t>
    </dgm:pt>
    <dgm:pt modelId="{EF4A0F7B-E33D-4537-8CAA-313389A6A2D5}">
      <dgm:prSet/>
      <dgm:spPr/>
      <dgm:t>
        <a:bodyPr/>
        <a:lstStyle/>
        <a:p>
          <a:pPr rtl="0"/>
          <a:r>
            <a:rPr lang="en-US" smtClean="0"/>
            <a:t>These accounts are likely business or high-income clients.</a:t>
          </a:r>
          <a:endParaRPr lang="en-US"/>
        </a:p>
      </dgm:t>
    </dgm:pt>
    <dgm:pt modelId="{FB2728E5-DA53-44DF-9E3B-3D0E4BEF47F8}" type="parTrans" cxnId="{593D6C7D-E918-4B01-ADBE-ECCA0D754A85}">
      <dgm:prSet/>
      <dgm:spPr/>
      <dgm:t>
        <a:bodyPr/>
        <a:lstStyle/>
        <a:p>
          <a:endParaRPr lang="en-US"/>
        </a:p>
      </dgm:t>
    </dgm:pt>
    <dgm:pt modelId="{68BC837D-A7CC-4822-94F6-8E22C20CE481}" type="sibTrans" cxnId="{593D6C7D-E918-4B01-ADBE-ECCA0D754A85}">
      <dgm:prSet/>
      <dgm:spPr/>
      <dgm:t>
        <a:bodyPr/>
        <a:lstStyle/>
        <a:p>
          <a:endParaRPr lang="en-US"/>
        </a:p>
      </dgm:t>
    </dgm:pt>
    <dgm:pt modelId="{9E75C494-7C1A-4C70-971E-1B195FC13EAB}">
      <dgm:prSet/>
      <dgm:spPr/>
      <dgm:t>
        <a:bodyPr/>
        <a:lstStyle/>
        <a:p>
          <a:pPr rtl="0"/>
          <a:r>
            <a:rPr lang="en-US" smtClean="0"/>
            <a:t>We can Assign </a:t>
          </a:r>
          <a:r>
            <a:rPr lang="en-US" b="1" smtClean="0"/>
            <a:t>relationship managers</a:t>
          </a:r>
          <a:r>
            <a:rPr lang="en-US" smtClean="0"/>
            <a:t> to these accounts </a:t>
          </a:r>
          <a:endParaRPr lang="en-US"/>
        </a:p>
      </dgm:t>
    </dgm:pt>
    <dgm:pt modelId="{D0B9639F-88E9-4C13-9711-B83E96B529A6}" type="parTrans" cxnId="{C7F6C44B-615D-4A19-ABE8-5347D1DAB91F}">
      <dgm:prSet/>
      <dgm:spPr/>
      <dgm:t>
        <a:bodyPr/>
        <a:lstStyle/>
        <a:p>
          <a:endParaRPr lang="en-US"/>
        </a:p>
      </dgm:t>
    </dgm:pt>
    <dgm:pt modelId="{07424F46-7CCC-4ED2-9A77-CBF3883EE9DF}" type="sibTrans" cxnId="{C7F6C44B-615D-4A19-ABE8-5347D1DAB91F}">
      <dgm:prSet/>
      <dgm:spPr/>
      <dgm:t>
        <a:bodyPr/>
        <a:lstStyle/>
        <a:p>
          <a:endParaRPr lang="en-US"/>
        </a:p>
      </dgm:t>
    </dgm:pt>
    <dgm:pt modelId="{43C30D81-EA11-4A03-AAE5-D85878305F3B}" type="pres">
      <dgm:prSet presAssocID="{6DE0407D-3B93-4B02-8D6C-C6B10F9B0458}" presName="linear" presStyleCnt="0">
        <dgm:presLayoutVars>
          <dgm:animLvl val="lvl"/>
          <dgm:resizeHandles val="exact"/>
        </dgm:presLayoutVars>
      </dgm:prSet>
      <dgm:spPr/>
      <dgm:t>
        <a:bodyPr/>
        <a:lstStyle/>
        <a:p>
          <a:endParaRPr lang="en-US"/>
        </a:p>
      </dgm:t>
    </dgm:pt>
    <dgm:pt modelId="{158D4FF2-5232-4D09-BCB3-013163CC1EAC}" type="pres">
      <dgm:prSet presAssocID="{77D5F915-24B9-4CE1-99AB-DB1C0BB8E153}" presName="parentText" presStyleLbl="node1" presStyleIdx="0" presStyleCnt="4">
        <dgm:presLayoutVars>
          <dgm:chMax val="0"/>
          <dgm:bulletEnabled val="1"/>
        </dgm:presLayoutVars>
      </dgm:prSet>
      <dgm:spPr/>
      <dgm:t>
        <a:bodyPr/>
        <a:lstStyle/>
        <a:p>
          <a:endParaRPr lang="en-US"/>
        </a:p>
      </dgm:t>
    </dgm:pt>
    <dgm:pt modelId="{4A98B96D-672E-4899-AB62-F66E7658F00A}" type="pres">
      <dgm:prSet presAssocID="{F6B676F8-0D80-4047-8B14-5C11DEB731A6}" presName="spacer" presStyleCnt="0"/>
      <dgm:spPr/>
    </dgm:pt>
    <dgm:pt modelId="{E5A85B93-1B2B-4BEA-A6F6-8F203AAB23C0}" type="pres">
      <dgm:prSet presAssocID="{8FDBAA0D-23EE-4364-9864-D7D8280C1B20}" presName="parentText" presStyleLbl="node1" presStyleIdx="1" presStyleCnt="4">
        <dgm:presLayoutVars>
          <dgm:chMax val="0"/>
          <dgm:bulletEnabled val="1"/>
        </dgm:presLayoutVars>
      </dgm:prSet>
      <dgm:spPr/>
      <dgm:t>
        <a:bodyPr/>
        <a:lstStyle/>
        <a:p>
          <a:endParaRPr lang="en-US"/>
        </a:p>
      </dgm:t>
    </dgm:pt>
    <dgm:pt modelId="{D27AF190-51D2-41C4-A485-2BB83BA8CB08}" type="pres">
      <dgm:prSet presAssocID="{329BA372-346C-4B63-B08E-4A4E0B33594E}" presName="spacer" presStyleCnt="0"/>
      <dgm:spPr/>
    </dgm:pt>
    <dgm:pt modelId="{9949508E-46EA-4BD7-81DA-21928E3E02B2}" type="pres">
      <dgm:prSet presAssocID="{EF4A0F7B-E33D-4537-8CAA-313389A6A2D5}" presName="parentText" presStyleLbl="node1" presStyleIdx="2" presStyleCnt="4">
        <dgm:presLayoutVars>
          <dgm:chMax val="0"/>
          <dgm:bulletEnabled val="1"/>
        </dgm:presLayoutVars>
      </dgm:prSet>
      <dgm:spPr/>
      <dgm:t>
        <a:bodyPr/>
        <a:lstStyle/>
        <a:p>
          <a:endParaRPr lang="en-US"/>
        </a:p>
      </dgm:t>
    </dgm:pt>
    <dgm:pt modelId="{622F91F6-C7D5-4C2A-9F4A-99B2FA83C683}" type="pres">
      <dgm:prSet presAssocID="{68BC837D-A7CC-4822-94F6-8E22C20CE481}" presName="spacer" presStyleCnt="0"/>
      <dgm:spPr/>
    </dgm:pt>
    <dgm:pt modelId="{00636ECC-FC31-4962-94EF-B08721948139}" type="pres">
      <dgm:prSet presAssocID="{9E75C494-7C1A-4C70-971E-1B195FC13EAB}" presName="parentText" presStyleLbl="node1" presStyleIdx="3" presStyleCnt="4">
        <dgm:presLayoutVars>
          <dgm:chMax val="0"/>
          <dgm:bulletEnabled val="1"/>
        </dgm:presLayoutVars>
      </dgm:prSet>
      <dgm:spPr/>
      <dgm:t>
        <a:bodyPr/>
        <a:lstStyle/>
        <a:p>
          <a:endParaRPr lang="en-US"/>
        </a:p>
      </dgm:t>
    </dgm:pt>
  </dgm:ptLst>
  <dgm:cxnLst>
    <dgm:cxn modelId="{B0C41818-1037-4F35-B27B-D81E1D1267AF}" srcId="{6DE0407D-3B93-4B02-8D6C-C6B10F9B0458}" destId="{8FDBAA0D-23EE-4364-9864-D7D8280C1B20}" srcOrd="1" destOrd="0" parTransId="{BD9B1C45-A819-481E-AC15-467B31AD5BD9}" sibTransId="{329BA372-346C-4B63-B08E-4A4E0B33594E}"/>
    <dgm:cxn modelId="{433D9848-45A6-4161-9594-DCBC1E14A77C}" type="presOf" srcId="{77D5F915-24B9-4CE1-99AB-DB1C0BB8E153}" destId="{158D4FF2-5232-4D09-BCB3-013163CC1EAC}" srcOrd="0" destOrd="0" presId="urn:microsoft.com/office/officeart/2005/8/layout/vList2"/>
    <dgm:cxn modelId="{C7F6C44B-615D-4A19-ABE8-5347D1DAB91F}" srcId="{6DE0407D-3B93-4B02-8D6C-C6B10F9B0458}" destId="{9E75C494-7C1A-4C70-971E-1B195FC13EAB}" srcOrd="3" destOrd="0" parTransId="{D0B9639F-88E9-4C13-9711-B83E96B529A6}" sibTransId="{07424F46-7CCC-4ED2-9A77-CBF3883EE9DF}"/>
    <dgm:cxn modelId="{0918CAEA-1A68-4699-89DB-32C975E335DE}" type="presOf" srcId="{6DE0407D-3B93-4B02-8D6C-C6B10F9B0458}" destId="{43C30D81-EA11-4A03-AAE5-D85878305F3B}" srcOrd="0" destOrd="0" presId="urn:microsoft.com/office/officeart/2005/8/layout/vList2"/>
    <dgm:cxn modelId="{0C828E28-1F5D-4203-AEC2-B0EF621988D8}" type="presOf" srcId="{9E75C494-7C1A-4C70-971E-1B195FC13EAB}" destId="{00636ECC-FC31-4962-94EF-B08721948139}" srcOrd="0" destOrd="0" presId="urn:microsoft.com/office/officeart/2005/8/layout/vList2"/>
    <dgm:cxn modelId="{7F36D3A0-A6B6-4712-A84A-3BF4058F98C0}" srcId="{6DE0407D-3B93-4B02-8D6C-C6B10F9B0458}" destId="{77D5F915-24B9-4CE1-99AB-DB1C0BB8E153}" srcOrd="0" destOrd="0" parTransId="{5F17DECC-4593-4229-9B20-2B22CB2FA88B}" sibTransId="{F6B676F8-0D80-4047-8B14-5C11DEB731A6}"/>
    <dgm:cxn modelId="{FF4F3AF9-A3DE-4264-A81C-056AA984D9BC}" type="presOf" srcId="{8FDBAA0D-23EE-4364-9864-D7D8280C1B20}" destId="{E5A85B93-1B2B-4BEA-A6F6-8F203AAB23C0}" srcOrd="0" destOrd="0" presId="urn:microsoft.com/office/officeart/2005/8/layout/vList2"/>
    <dgm:cxn modelId="{593D6C7D-E918-4B01-ADBE-ECCA0D754A85}" srcId="{6DE0407D-3B93-4B02-8D6C-C6B10F9B0458}" destId="{EF4A0F7B-E33D-4537-8CAA-313389A6A2D5}" srcOrd="2" destOrd="0" parTransId="{FB2728E5-DA53-44DF-9E3B-3D0E4BEF47F8}" sibTransId="{68BC837D-A7CC-4822-94F6-8E22C20CE481}"/>
    <dgm:cxn modelId="{29ED82BD-1CF0-44E6-A046-65A1EEC1845B}" type="presOf" srcId="{EF4A0F7B-E33D-4537-8CAA-313389A6A2D5}" destId="{9949508E-46EA-4BD7-81DA-21928E3E02B2}" srcOrd="0" destOrd="0" presId="urn:microsoft.com/office/officeart/2005/8/layout/vList2"/>
    <dgm:cxn modelId="{2D2A5212-316E-43A0-AEE0-939BF1D6BF11}" type="presParOf" srcId="{43C30D81-EA11-4A03-AAE5-D85878305F3B}" destId="{158D4FF2-5232-4D09-BCB3-013163CC1EAC}" srcOrd="0" destOrd="0" presId="urn:microsoft.com/office/officeart/2005/8/layout/vList2"/>
    <dgm:cxn modelId="{C0F05493-13A8-40D4-953A-CD6AC15F3765}" type="presParOf" srcId="{43C30D81-EA11-4A03-AAE5-D85878305F3B}" destId="{4A98B96D-672E-4899-AB62-F66E7658F00A}" srcOrd="1" destOrd="0" presId="urn:microsoft.com/office/officeart/2005/8/layout/vList2"/>
    <dgm:cxn modelId="{2F7FAD0B-5BCC-4A2B-AF3F-AA070A5B4ABA}" type="presParOf" srcId="{43C30D81-EA11-4A03-AAE5-D85878305F3B}" destId="{E5A85B93-1B2B-4BEA-A6F6-8F203AAB23C0}" srcOrd="2" destOrd="0" presId="urn:microsoft.com/office/officeart/2005/8/layout/vList2"/>
    <dgm:cxn modelId="{36157B1E-ECFA-486D-A7D5-DECBD0DA6B86}" type="presParOf" srcId="{43C30D81-EA11-4A03-AAE5-D85878305F3B}" destId="{D27AF190-51D2-41C4-A485-2BB83BA8CB08}" srcOrd="3" destOrd="0" presId="urn:microsoft.com/office/officeart/2005/8/layout/vList2"/>
    <dgm:cxn modelId="{26D0A3D9-8216-494D-95C9-EC97853C1423}" type="presParOf" srcId="{43C30D81-EA11-4A03-AAE5-D85878305F3B}" destId="{9949508E-46EA-4BD7-81DA-21928E3E02B2}" srcOrd="4" destOrd="0" presId="urn:microsoft.com/office/officeart/2005/8/layout/vList2"/>
    <dgm:cxn modelId="{F200FF51-53DF-46CA-BD71-0BA01AF9DFE5}" type="presParOf" srcId="{43C30D81-EA11-4A03-AAE5-D85878305F3B}" destId="{622F91F6-C7D5-4C2A-9F4A-99B2FA83C683}" srcOrd="5" destOrd="0" presId="urn:microsoft.com/office/officeart/2005/8/layout/vList2"/>
    <dgm:cxn modelId="{C0D3CACC-582D-43F0-BBC5-8E2CD42B9A35}" type="presParOf" srcId="{43C30D81-EA11-4A03-AAE5-D85878305F3B}" destId="{00636ECC-FC31-4962-94EF-B08721948139}"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B56F0CC-2AD9-4B40-83AB-4F5C472B1B4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F69B140-0A43-495E-A4F3-F5B471C43788}">
      <dgm:prSet/>
      <dgm:spPr/>
      <dgm:t>
        <a:bodyPr/>
        <a:lstStyle/>
        <a:p>
          <a:pPr rtl="0"/>
          <a:r>
            <a:rPr lang="en-US" b="1" smtClean="0"/>
            <a:t>📈 Insights:</a:t>
          </a:r>
          <a:endParaRPr lang="en-US" b="1"/>
        </a:p>
      </dgm:t>
    </dgm:pt>
    <dgm:pt modelId="{1BA0BA39-D1FB-4472-8A84-37D844EAACF5}" type="parTrans" cxnId="{CD6B2A0C-0081-4D54-BB39-94D49DD31E0E}">
      <dgm:prSet/>
      <dgm:spPr/>
      <dgm:t>
        <a:bodyPr/>
        <a:lstStyle/>
        <a:p>
          <a:endParaRPr lang="en-US"/>
        </a:p>
      </dgm:t>
    </dgm:pt>
    <dgm:pt modelId="{9ADA54F6-E8BC-46F5-B5B6-12D98E5BDF76}" type="sibTrans" cxnId="{CD6B2A0C-0081-4D54-BB39-94D49DD31E0E}">
      <dgm:prSet/>
      <dgm:spPr/>
      <dgm:t>
        <a:bodyPr/>
        <a:lstStyle/>
        <a:p>
          <a:endParaRPr lang="en-US"/>
        </a:p>
      </dgm:t>
    </dgm:pt>
    <dgm:pt modelId="{8DF1D780-44A2-401C-B544-0D802982E4D0}">
      <dgm:prSet/>
      <dgm:spPr/>
      <dgm:t>
        <a:bodyPr/>
        <a:lstStyle/>
        <a:p>
          <a:pPr rtl="0"/>
          <a:r>
            <a:rPr lang="en-US" smtClean="0"/>
            <a:t>Seasonal Peaks (Dec–Jan) → Likely due to festive season spending &amp; year-end bonuses.</a:t>
          </a:r>
          <a:endParaRPr lang="en-US"/>
        </a:p>
      </dgm:t>
    </dgm:pt>
    <dgm:pt modelId="{7F4FA9E4-BA14-44A9-9E17-60D0FD54788A}" type="parTrans" cxnId="{07DE2701-3DE4-40FF-96DC-7CFD76EE8FDE}">
      <dgm:prSet/>
      <dgm:spPr/>
      <dgm:t>
        <a:bodyPr/>
        <a:lstStyle/>
        <a:p>
          <a:endParaRPr lang="en-US"/>
        </a:p>
      </dgm:t>
    </dgm:pt>
    <dgm:pt modelId="{A5D4D534-E64A-4E8C-905C-1736AB055D11}" type="sibTrans" cxnId="{07DE2701-3DE4-40FF-96DC-7CFD76EE8FDE}">
      <dgm:prSet/>
      <dgm:spPr/>
      <dgm:t>
        <a:bodyPr/>
        <a:lstStyle/>
        <a:p>
          <a:endParaRPr lang="en-US"/>
        </a:p>
      </dgm:t>
    </dgm:pt>
    <dgm:pt modelId="{1BB78019-99D4-4ADB-9815-DF106199DCF8}">
      <dgm:prSet/>
      <dgm:spPr/>
      <dgm:t>
        <a:bodyPr/>
        <a:lstStyle/>
        <a:p>
          <a:pPr rtl="0"/>
          <a:r>
            <a:rPr lang="en-US" smtClean="0"/>
            <a:t>Plan </a:t>
          </a:r>
          <a:r>
            <a:rPr lang="en-US" b="1" smtClean="0"/>
            <a:t>campaigns during festive months (Nov–Jan)</a:t>
          </a:r>
          <a:r>
            <a:rPr lang="en-US" smtClean="0"/>
            <a:t> → maximize revenue</a:t>
          </a:r>
          <a:endParaRPr lang="en-US"/>
        </a:p>
      </dgm:t>
    </dgm:pt>
    <dgm:pt modelId="{3599D854-54B7-45EC-B7D9-D974F7F65CD1}" type="parTrans" cxnId="{081D7FED-A894-4628-9289-8C149FE462B8}">
      <dgm:prSet/>
      <dgm:spPr/>
      <dgm:t>
        <a:bodyPr/>
        <a:lstStyle/>
        <a:p>
          <a:endParaRPr lang="en-US"/>
        </a:p>
      </dgm:t>
    </dgm:pt>
    <dgm:pt modelId="{0317347E-A789-4CEB-BEB3-FF8C460A8098}" type="sibTrans" cxnId="{081D7FED-A894-4628-9289-8C149FE462B8}">
      <dgm:prSet/>
      <dgm:spPr/>
      <dgm:t>
        <a:bodyPr/>
        <a:lstStyle/>
        <a:p>
          <a:endParaRPr lang="en-US"/>
        </a:p>
      </dgm:t>
    </dgm:pt>
    <dgm:pt modelId="{4CABB5AC-4E84-481A-A96C-081A1E1D0CCF}">
      <dgm:prSet/>
      <dgm:spPr/>
      <dgm:t>
        <a:bodyPr/>
        <a:lstStyle/>
        <a:p>
          <a:pPr rtl="0"/>
          <a:r>
            <a:rPr lang="en-US" smtClean="0"/>
            <a:t>Investigate </a:t>
          </a:r>
          <a:r>
            <a:rPr lang="en-US" b="1" smtClean="0"/>
            <a:t>July 2025 slowdown</a:t>
          </a:r>
          <a:r>
            <a:rPr lang="en-US" smtClean="0"/>
            <a:t> → push targeted offers to boost activity.</a:t>
          </a:r>
          <a:endParaRPr lang="en-US"/>
        </a:p>
      </dgm:t>
    </dgm:pt>
    <dgm:pt modelId="{7BFFE13B-DFC6-4800-867E-64455A260A86}" type="parTrans" cxnId="{87C304A3-1B12-4B74-80D3-C45DB04AD076}">
      <dgm:prSet/>
      <dgm:spPr/>
      <dgm:t>
        <a:bodyPr/>
        <a:lstStyle/>
        <a:p>
          <a:endParaRPr lang="en-US"/>
        </a:p>
      </dgm:t>
    </dgm:pt>
    <dgm:pt modelId="{D183467D-BC05-4E8E-A625-A2F3B9E88F97}" type="sibTrans" cxnId="{87C304A3-1B12-4B74-80D3-C45DB04AD076}">
      <dgm:prSet/>
      <dgm:spPr/>
      <dgm:t>
        <a:bodyPr/>
        <a:lstStyle/>
        <a:p>
          <a:endParaRPr lang="en-US"/>
        </a:p>
      </dgm:t>
    </dgm:pt>
    <dgm:pt modelId="{08C84330-DF8D-46C1-BABB-B35E472F4CFC}" type="pres">
      <dgm:prSet presAssocID="{6B56F0CC-2AD9-4B40-83AB-4F5C472B1B48}" presName="linear" presStyleCnt="0">
        <dgm:presLayoutVars>
          <dgm:animLvl val="lvl"/>
          <dgm:resizeHandles val="exact"/>
        </dgm:presLayoutVars>
      </dgm:prSet>
      <dgm:spPr/>
      <dgm:t>
        <a:bodyPr/>
        <a:lstStyle/>
        <a:p>
          <a:endParaRPr lang="en-US"/>
        </a:p>
      </dgm:t>
    </dgm:pt>
    <dgm:pt modelId="{1E28008E-5759-4BCE-AB3A-12DD5D72BDAD}" type="pres">
      <dgm:prSet presAssocID="{0F69B140-0A43-495E-A4F3-F5B471C43788}" presName="parentText" presStyleLbl="node1" presStyleIdx="0" presStyleCnt="4" custLinFactNeighborX="75">
        <dgm:presLayoutVars>
          <dgm:chMax val="0"/>
          <dgm:bulletEnabled val="1"/>
        </dgm:presLayoutVars>
      </dgm:prSet>
      <dgm:spPr/>
      <dgm:t>
        <a:bodyPr/>
        <a:lstStyle/>
        <a:p>
          <a:endParaRPr lang="en-US"/>
        </a:p>
      </dgm:t>
    </dgm:pt>
    <dgm:pt modelId="{DFAD5FF5-5165-4A40-A902-0C56C707E4C3}" type="pres">
      <dgm:prSet presAssocID="{9ADA54F6-E8BC-46F5-B5B6-12D98E5BDF76}" presName="spacer" presStyleCnt="0"/>
      <dgm:spPr/>
    </dgm:pt>
    <dgm:pt modelId="{CA6C19C1-CAA8-43DB-B33C-27A4A33C8547}" type="pres">
      <dgm:prSet presAssocID="{8DF1D780-44A2-401C-B544-0D802982E4D0}" presName="parentText" presStyleLbl="node1" presStyleIdx="1" presStyleCnt="4">
        <dgm:presLayoutVars>
          <dgm:chMax val="0"/>
          <dgm:bulletEnabled val="1"/>
        </dgm:presLayoutVars>
      </dgm:prSet>
      <dgm:spPr/>
      <dgm:t>
        <a:bodyPr/>
        <a:lstStyle/>
        <a:p>
          <a:endParaRPr lang="en-US"/>
        </a:p>
      </dgm:t>
    </dgm:pt>
    <dgm:pt modelId="{704B9798-F2B5-4F89-AE43-423A96B9D924}" type="pres">
      <dgm:prSet presAssocID="{A5D4D534-E64A-4E8C-905C-1736AB055D11}" presName="spacer" presStyleCnt="0"/>
      <dgm:spPr/>
    </dgm:pt>
    <dgm:pt modelId="{F9F222E4-4A68-4B0E-A0F1-E96221604F58}" type="pres">
      <dgm:prSet presAssocID="{1BB78019-99D4-4ADB-9815-DF106199DCF8}" presName="parentText" presStyleLbl="node1" presStyleIdx="2" presStyleCnt="4">
        <dgm:presLayoutVars>
          <dgm:chMax val="0"/>
          <dgm:bulletEnabled val="1"/>
        </dgm:presLayoutVars>
      </dgm:prSet>
      <dgm:spPr/>
      <dgm:t>
        <a:bodyPr/>
        <a:lstStyle/>
        <a:p>
          <a:endParaRPr lang="en-US"/>
        </a:p>
      </dgm:t>
    </dgm:pt>
    <dgm:pt modelId="{A2151361-4324-4C1F-9219-45187BDFA8FF}" type="pres">
      <dgm:prSet presAssocID="{0317347E-A789-4CEB-BEB3-FF8C460A8098}" presName="spacer" presStyleCnt="0"/>
      <dgm:spPr/>
    </dgm:pt>
    <dgm:pt modelId="{29C511D1-3D44-41DC-9DB6-8B271AAAB4CA}" type="pres">
      <dgm:prSet presAssocID="{4CABB5AC-4E84-481A-A96C-081A1E1D0CCF}" presName="parentText" presStyleLbl="node1" presStyleIdx="3" presStyleCnt="4">
        <dgm:presLayoutVars>
          <dgm:chMax val="0"/>
          <dgm:bulletEnabled val="1"/>
        </dgm:presLayoutVars>
      </dgm:prSet>
      <dgm:spPr/>
      <dgm:t>
        <a:bodyPr/>
        <a:lstStyle/>
        <a:p>
          <a:endParaRPr lang="en-US"/>
        </a:p>
      </dgm:t>
    </dgm:pt>
  </dgm:ptLst>
  <dgm:cxnLst>
    <dgm:cxn modelId="{5E5D07B8-8043-4D25-B15D-A3EEFC06F47F}" type="presOf" srcId="{4CABB5AC-4E84-481A-A96C-081A1E1D0CCF}" destId="{29C511D1-3D44-41DC-9DB6-8B271AAAB4CA}" srcOrd="0" destOrd="0" presId="urn:microsoft.com/office/officeart/2005/8/layout/vList2"/>
    <dgm:cxn modelId="{87C304A3-1B12-4B74-80D3-C45DB04AD076}" srcId="{6B56F0CC-2AD9-4B40-83AB-4F5C472B1B48}" destId="{4CABB5AC-4E84-481A-A96C-081A1E1D0CCF}" srcOrd="3" destOrd="0" parTransId="{7BFFE13B-DFC6-4800-867E-64455A260A86}" sibTransId="{D183467D-BC05-4E8E-A625-A2F3B9E88F97}"/>
    <dgm:cxn modelId="{32EB8E2E-F6CA-4950-A2A2-07EC4BC8EAF0}" type="presOf" srcId="{8DF1D780-44A2-401C-B544-0D802982E4D0}" destId="{CA6C19C1-CAA8-43DB-B33C-27A4A33C8547}" srcOrd="0" destOrd="0" presId="urn:microsoft.com/office/officeart/2005/8/layout/vList2"/>
    <dgm:cxn modelId="{7779E5BA-1432-4FAB-8D18-41AFD41C41CA}" type="presOf" srcId="{1BB78019-99D4-4ADB-9815-DF106199DCF8}" destId="{F9F222E4-4A68-4B0E-A0F1-E96221604F58}" srcOrd="0" destOrd="0" presId="urn:microsoft.com/office/officeart/2005/8/layout/vList2"/>
    <dgm:cxn modelId="{38CBA91C-9FE9-4F49-8AC8-DCE57C679253}" type="presOf" srcId="{0F69B140-0A43-495E-A4F3-F5B471C43788}" destId="{1E28008E-5759-4BCE-AB3A-12DD5D72BDAD}" srcOrd="0" destOrd="0" presId="urn:microsoft.com/office/officeart/2005/8/layout/vList2"/>
    <dgm:cxn modelId="{E8585FE8-3195-4214-8D7F-B48D4FCD0B56}" type="presOf" srcId="{6B56F0CC-2AD9-4B40-83AB-4F5C472B1B48}" destId="{08C84330-DF8D-46C1-BABB-B35E472F4CFC}" srcOrd="0" destOrd="0" presId="urn:microsoft.com/office/officeart/2005/8/layout/vList2"/>
    <dgm:cxn modelId="{07DE2701-3DE4-40FF-96DC-7CFD76EE8FDE}" srcId="{6B56F0CC-2AD9-4B40-83AB-4F5C472B1B48}" destId="{8DF1D780-44A2-401C-B544-0D802982E4D0}" srcOrd="1" destOrd="0" parTransId="{7F4FA9E4-BA14-44A9-9E17-60D0FD54788A}" sibTransId="{A5D4D534-E64A-4E8C-905C-1736AB055D11}"/>
    <dgm:cxn modelId="{CD6B2A0C-0081-4D54-BB39-94D49DD31E0E}" srcId="{6B56F0CC-2AD9-4B40-83AB-4F5C472B1B48}" destId="{0F69B140-0A43-495E-A4F3-F5B471C43788}" srcOrd="0" destOrd="0" parTransId="{1BA0BA39-D1FB-4472-8A84-37D844EAACF5}" sibTransId="{9ADA54F6-E8BC-46F5-B5B6-12D98E5BDF76}"/>
    <dgm:cxn modelId="{081D7FED-A894-4628-9289-8C149FE462B8}" srcId="{6B56F0CC-2AD9-4B40-83AB-4F5C472B1B48}" destId="{1BB78019-99D4-4ADB-9815-DF106199DCF8}" srcOrd="2" destOrd="0" parTransId="{3599D854-54B7-45EC-B7D9-D974F7F65CD1}" sibTransId="{0317347E-A789-4CEB-BEB3-FF8C460A8098}"/>
    <dgm:cxn modelId="{E173EE64-26EC-43F1-A44E-67CDED9E7076}" type="presParOf" srcId="{08C84330-DF8D-46C1-BABB-B35E472F4CFC}" destId="{1E28008E-5759-4BCE-AB3A-12DD5D72BDAD}" srcOrd="0" destOrd="0" presId="urn:microsoft.com/office/officeart/2005/8/layout/vList2"/>
    <dgm:cxn modelId="{1E00DCE2-C60C-4277-BF19-D8DB962E8442}" type="presParOf" srcId="{08C84330-DF8D-46C1-BABB-B35E472F4CFC}" destId="{DFAD5FF5-5165-4A40-A902-0C56C707E4C3}" srcOrd="1" destOrd="0" presId="urn:microsoft.com/office/officeart/2005/8/layout/vList2"/>
    <dgm:cxn modelId="{2E771C3D-C3CF-4F71-AC7D-D07EEDD32F93}" type="presParOf" srcId="{08C84330-DF8D-46C1-BABB-B35E472F4CFC}" destId="{CA6C19C1-CAA8-43DB-B33C-27A4A33C8547}" srcOrd="2" destOrd="0" presId="urn:microsoft.com/office/officeart/2005/8/layout/vList2"/>
    <dgm:cxn modelId="{E8C77AC5-9FE5-4602-9EAB-1A66C52E6AC6}" type="presParOf" srcId="{08C84330-DF8D-46C1-BABB-B35E472F4CFC}" destId="{704B9798-F2B5-4F89-AE43-423A96B9D924}" srcOrd="3" destOrd="0" presId="urn:microsoft.com/office/officeart/2005/8/layout/vList2"/>
    <dgm:cxn modelId="{E4784989-1F4B-4ACE-8E26-847821BD9B05}" type="presParOf" srcId="{08C84330-DF8D-46C1-BABB-B35E472F4CFC}" destId="{F9F222E4-4A68-4B0E-A0F1-E96221604F58}" srcOrd="4" destOrd="0" presId="urn:microsoft.com/office/officeart/2005/8/layout/vList2"/>
    <dgm:cxn modelId="{4835F887-69E4-4583-8C59-8DCE810254B8}" type="presParOf" srcId="{08C84330-DF8D-46C1-BABB-B35E472F4CFC}" destId="{A2151361-4324-4C1F-9219-45187BDFA8FF}" srcOrd="5" destOrd="0" presId="urn:microsoft.com/office/officeart/2005/8/layout/vList2"/>
    <dgm:cxn modelId="{F0C610A9-29B4-457D-BC0A-20E084AB320A}" type="presParOf" srcId="{08C84330-DF8D-46C1-BABB-B35E472F4CFC}" destId="{29C511D1-3D44-41DC-9DB6-8B271AAAB4CA}"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C1AA74E-F56E-4CF9-BA62-7BA3F7340B22}"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296A0BA5-5BB5-4D41-8B50-6EA0562EDCEA}">
      <dgm:prSet custT="1"/>
      <dgm:spPr/>
      <dgm:t>
        <a:bodyPr/>
        <a:lstStyle/>
        <a:p>
          <a:pPr rtl="0"/>
          <a:r>
            <a:rPr lang="en-US" sz="1800" dirty="0" smtClean="0"/>
            <a:t>📈 Insights:</a:t>
          </a:r>
          <a:endParaRPr lang="en-US" sz="1800" dirty="0"/>
        </a:p>
      </dgm:t>
    </dgm:pt>
    <dgm:pt modelId="{68116605-DC71-4FA7-99F9-7ED3A5AE75AF}" type="parTrans" cxnId="{7AF1970F-7280-4630-8B39-61CEB6AD2ECF}">
      <dgm:prSet/>
      <dgm:spPr/>
      <dgm:t>
        <a:bodyPr/>
        <a:lstStyle/>
        <a:p>
          <a:endParaRPr lang="en-US"/>
        </a:p>
      </dgm:t>
    </dgm:pt>
    <dgm:pt modelId="{275212A4-B654-4EEC-B536-A050326D39CB}" type="sibTrans" cxnId="{7AF1970F-7280-4630-8B39-61CEB6AD2ECF}">
      <dgm:prSet/>
      <dgm:spPr/>
      <dgm:t>
        <a:bodyPr/>
        <a:lstStyle/>
        <a:p>
          <a:endParaRPr lang="en-US"/>
        </a:p>
      </dgm:t>
    </dgm:pt>
    <dgm:pt modelId="{527C360C-A9A5-4C9F-844A-919B2B753C8A}">
      <dgm:prSet/>
      <dgm:spPr/>
      <dgm:t>
        <a:bodyPr/>
        <a:lstStyle/>
        <a:p>
          <a:pPr rtl="0"/>
          <a:r>
            <a:rPr lang="en-US" b="1" dirty="0" smtClean="0"/>
            <a:t>High Activity in June–July 2025</a:t>
          </a:r>
          <a:r>
            <a:rPr lang="en-US" dirty="0" smtClean="0"/>
            <a:t> : Customers are active; recent transactions confirm strong engagement.</a:t>
          </a:r>
          <a:endParaRPr lang="en-US" dirty="0"/>
        </a:p>
      </dgm:t>
    </dgm:pt>
    <dgm:pt modelId="{A20B6FAE-2DB2-4510-9F9F-40D6A4FB4A8E}" type="parTrans" cxnId="{CD706C0E-D568-4FF6-9C6F-C62FBB2459ED}">
      <dgm:prSet/>
      <dgm:spPr/>
      <dgm:t>
        <a:bodyPr/>
        <a:lstStyle/>
        <a:p>
          <a:endParaRPr lang="en-US"/>
        </a:p>
      </dgm:t>
    </dgm:pt>
    <dgm:pt modelId="{AA1F4D2D-FC82-4FA5-A744-00BBF4569981}" type="sibTrans" cxnId="{CD706C0E-D568-4FF6-9C6F-C62FBB2459ED}">
      <dgm:prSet/>
      <dgm:spPr/>
      <dgm:t>
        <a:bodyPr/>
        <a:lstStyle/>
        <a:p>
          <a:endParaRPr lang="en-US"/>
        </a:p>
      </dgm:t>
    </dgm:pt>
    <dgm:pt modelId="{C751E391-3925-4578-ACF0-3BE6A94EC2D3}">
      <dgm:prSet/>
      <dgm:spPr/>
      <dgm:t>
        <a:bodyPr/>
        <a:lstStyle/>
        <a:p>
          <a:pPr rtl="0"/>
          <a:r>
            <a:rPr lang="en-US" b="1" dirty="0" smtClean="0"/>
            <a:t>Multi-account customers (CUST0099, CUST0048)</a:t>
          </a:r>
          <a:r>
            <a:rPr lang="en-US" dirty="0" smtClean="0"/>
            <a:t> show </a:t>
          </a:r>
          <a:r>
            <a:rPr lang="en-US" b="1" dirty="0" smtClean="0"/>
            <a:t>regular activity across accounts</a:t>
          </a:r>
          <a:r>
            <a:rPr lang="en-US" dirty="0" smtClean="0"/>
            <a:t>, suggesting high-value profiles.</a:t>
          </a:r>
          <a:endParaRPr lang="en-US" dirty="0"/>
        </a:p>
      </dgm:t>
    </dgm:pt>
    <dgm:pt modelId="{9D2BB4E0-8600-41C3-BEF7-947D66DA72EF}" type="parTrans" cxnId="{BCE5C3E7-6F74-4C2C-88BE-C1A5C69C7F7C}">
      <dgm:prSet/>
      <dgm:spPr/>
      <dgm:t>
        <a:bodyPr/>
        <a:lstStyle/>
        <a:p>
          <a:endParaRPr lang="en-US"/>
        </a:p>
      </dgm:t>
    </dgm:pt>
    <dgm:pt modelId="{97BD0BC2-BB0D-4CA7-880D-D13124D5596F}" type="sibTrans" cxnId="{BCE5C3E7-6F74-4C2C-88BE-C1A5C69C7F7C}">
      <dgm:prSet/>
      <dgm:spPr/>
      <dgm:t>
        <a:bodyPr/>
        <a:lstStyle/>
        <a:p>
          <a:endParaRPr lang="en-US"/>
        </a:p>
      </dgm:t>
    </dgm:pt>
    <dgm:pt modelId="{2BF67E39-846C-4153-B817-ACADF72E84C6}">
      <dgm:prSet custT="1"/>
      <dgm:spPr/>
      <dgm:t>
        <a:bodyPr/>
        <a:lstStyle/>
        <a:p>
          <a:pPr rtl="0"/>
          <a:r>
            <a:rPr lang="en-US" sz="1400" dirty="0" smtClean="0"/>
            <a:t>Flag accounts with </a:t>
          </a:r>
          <a:r>
            <a:rPr lang="en-US" sz="1400" b="1" dirty="0" smtClean="0"/>
            <a:t>&gt;60 days inactivity</a:t>
          </a:r>
          <a:r>
            <a:rPr lang="en-US" sz="1400" dirty="0" smtClean="0"/>
            <a:t> for </a:t>
          </a:r>
          <a:r>
            <a:rPr lang="en-US" sz="1400" b="1" dirty="0" smtClean="0"/>
            <a:t>re-engagement campaigns</a:t>
          </a:r>
          <a:endParaRPr lang="en-US" sz="1400" dirty="0"/>
        </a:p>
      </dgm:t>
    </dgm:pt>
    <dgm:pt modelId="{01CECD46-1A0E-486B-9009-004C04C6D605}" type="parTrans" cxnId="{DB535BEE-477D-4D16-B1E7-1D76836098BD}">
      <dgm:prSet/>
      <dgm:spPr/>
      <dgm:t>
        <a:bodyPr/>
        <a:lstStyle/>
        <a:p>
          <a:endParaRPr lang="en-US"/>
        </a:p>
      </dgm:t>
    </dgm:pt>
    <dgm:pt modelId="{2F971A68-E310-468C-B68C-8213F663AD8E}" type="sibTrans" cxnId="{DB535BEE-477D-4D16-B1E7-1D76836098BD}">
      <dgm:prSet/>
      <dgm:spPr/>
      <dgm:t>
        <a:bodyPr/>
        <a:lstStyle/>
        <a:p>
          <a:endParaRPr lang="en-US"/>
        </a:p>
      </dgm:t>
    </dgm:pt>
    <dgm:pt modelId="{F93FA09A-5910-4B24-A16B-9B2C32A656B4}">
      <dgm:prSet custT="1"/>
      <dgm:spPr/>
      <dgm:t>
        <a:bodyPr/>
        <a:lstStyle/>
        <a:p>
          <a:pPr rtl="0"/>
          <a:r>
            <a:rPr lang="en-US" sz="1600" dirty="0" smtClean="0"/>
            <a:t>Prioritize </a:t>
          </a:r>
          <a:r>
            <a:rPr lang="en-US" sz="1600" b="1" dirty="0" smtClean="0"/>
            <a:t>multi-account active users</a:t>
          </a:r>
          <a:r>
            <a:rPr lang="en-US" sz="1600" dirty="0" smtClean="0"/>
            <a:t> for loyalty offers.</a:t>
          </a:r>
          <a:endParaRPr lang="en-US" sz="1600" dirty="0"/>
        </a:p>
      </dgm:t>
    </dgm:pt>
    <dgm:pt modelId="{59E7E7E6-1E18-417B-AA36-996485323833}" type="parTrans" cxnId="{43E511B3-996E-45A0-B8B3-4227B4DCA632}">
      <dgm:prSet/>
      <dgm:spPr/>
      <dgm:t>
        <a:bodyPr/>
        <a:lstStyle/>
        <a:p>
          <a:endParaRPr lang="en-US"/>
        </a:p>
      </dgm:t>
    </dgm:pt>
    <dgm:pt modelId="{9A47FE1A-7838-48C6-A66D-71DA3551077D}" type="sibTrans" cxnId="{43E511B3-996E-45A0-B8B3-4227B4DCA632}">
      <dgm:prSet/>
      <dgm:spPr/>
      <dgm:t>
        <a:bodyPr/>
        <a:lstStyle/>
        <a:p>
          <a:endParaRPr lang="en-US"/>
        </a:p>
      </dgm:t>
    </dgm:pt>
    <dgm:pt modelId="{1791B33D-6709-4411-8D8E-F5AB7B77F08B}" type="pres">
      <dgm:prSet presAssocID="{1C1AA74E-F56E-4CF9-BA62-7BA3F7340B22}" presName="Name0" presStyleCnt="0">
        <dgm:presLayoutVars>
          <dgm:dir/>
          <dgm:resizeHandles val="exact"/>
        </dgm:presLayoutVars>
      </dgm:prSet>
      <dgm:spPr/>
      <dgm:t>
        <a:bodyPr/>
        <a:lstStyle/>
        <a:p>
          <a:endParaRPr lang="en-US"/>
        </a:p>
      </dgm:t>
    </dgm:pt>
    <dgm:pt modelId="{4DD29C6D-B721-4058-A88F-CD45E83496CF}" type="pres">
      <dgm:prSet presAssocID="{296A0BA5-5BB5-4D41-8B50-6EA0562EDCEA}" presName="node" presStyleLbl="node1" presStyleIdx="0" presStyleCnt="5">
        <dgm:presLayoutVars>
          <dgm:bulletEnabled val="1"/>
        </dgm:presLayoutVars>
      </dgm:prSet>
      <dgm:spPr/>
      <dgm:t>
        <a:bodyPr/>
        <a:lstStyle/>
        <a:p>
          <a:endParaRPr lang="en-US"/>
        </a:p>
      </dgm:t>
    </dgm:pt>
    <dgm:pt modelId="{4FFFF7EF-FEAF-4C3D-940F-D21C7E13AEC8}" type="pres">
      <dgm:prSet presAssocID="{275212A4-B654-4EEC-B536-A050326D39CB}" presName="sibTrans" presStyleLbl="sibTrans2D1" presStyleIdx="0" presStyleCnt="4"/>
      <dgm:spPr/>
      <dgm:t>
        <a:bodyPr/>
        <a:lstStyle/>
        <a:p>
          <a:endParaRPr lang="en-US"/>
        </a:p>
      </dgm:t>
    </dgm:pt>
    <dgm:pt modelId="{C5EC8A07-519C-4CB3-B7A8-3E7A822FFF66}" type="pres">
      <dgm:prSet presAssocID="{275212A4-B654-4EEC-B536-A050326D39CB}" presName="connectorText" presStyleLbl="sibTrans2D1" presStyleIdx="0" presStyleCnt="4"/>
      <dgm:spPr/>
      <dgm:t>
        <a:bodyPr/>
        <a:lstStyle/>
        <a:p>
          <a:endParaRPr lang="en-US"/>
        </a:p>
      </dgm:t>
    </dgm:pt>
    <dgm:pt modelId="{2AE58567-F313-4EED-8440-CD443151AB97}" type="pres">
      <dgm:prSet presAssocID="{527C360C-A9A5-4C9F-844A-919B2B753C8A}" presName="node" presStyleLbl="node1" presStyleIdx="1" presStyleCnt="5">
        <dgm:presLayoutVars>
          <dgm:bulletEnabled val="1"/>
        </dgm:presLayoutVars>
      </dgm:prSet>
      <dgm:spPr/>
      <dgm:t>
        <a:bodyPr/>
        <a:lstStyle/>
        <a:p>
          <a:endParaRPr lang="en-US"/>
        </a:p>
      </dgm:t>
    </dgm:pt>
    <dgm:pt modelId="{DC5E5881-FC47-4D11-8F8E-EB75B468E25D}" type="pres">
      <dgm:prSet presAssocID="{AA1F4D2D-FC82-4FA5-A744-00BBF4569981}" presName="sibTrans" presStyleLbl="sibTrans2D1" presStyleIdx="1" presStyleCnt="4"/>
      <dgm:spPr/>
      <dgm:t>
        <a:bodyPr/>
        <a:lstStyle/>
        <a:p>
          <a:endParaRPr lang="en-US"/>
        </a:p>
      </dgm:t>
    </dgm:pt>
    <dgm:pt modelId="{7368117E-AF9A-46E1-9DC3-60E77D531DB2}" type="pres">
      <dgm:prSet presAssocID="{AA1F4D2D-FC82-4FA5-A744-00BBF4569981}" presName="connectorText" presStyleLbl="sibTrans2D1" presStyleIdx="1" presStyleCnt="4"/>
      <dgm:spPr/>
      <dgm:t>
        <a:bodyPr/>
        <a:lstStyle/>
        <a:p>
          <a:endParaRPr lang="en-US"/>
        </a:p>
      </dgm:t>
    </dgm:pt>
    <dgm:pt modelId="{5833AFF2-E3A4-47A2-8EDE-31A3CFAFFFE4}" type="pres">
      <dgm:prSet presAssocID="{C751E391-3925-4578-ACF0-3BE6A94EC2D3}" presName="node" presStyleLbl="node1" presStyleIdx="2" presStyleCnt="5">
        <dgm:presLayoutVars>
          <dgm:bulletEnabled val="1"/>
        </dgm:presLayoutVars>
      </dgm:prSet>
      <dgm:spPr/>
      <dgm:t>
        <a:bodyPr/>
        <a:lstStyle/>
        <a:p>
          <a:endParaRPr lang="en-US"/>
        </a:p>
      </dgm:t>
    </dgm:pt>
    <dgm:pt modelId="{DF3E53E5-BC6D-4153-9292-D07845A5F4D5}" type="pres">
      <dgm:prSet presAssocID="{97BD0BC2-BB0D-4CA7-880D-D13124D5596F}" presName="sibTrans" presStyleLbl="sibTrans2D1" presStyleIdx="2" presStyleCnt="4"/>
      <dgm:spPr/>
      <dgm:t>
        <a:bodyPr/>
        <a:lstStyle/>
        <a:p>
          <a:endParaRPr lang="en-US"/>
        </a:p>
      </dgm:t>
    </dgm:pt>
    <dgm:pt modelId="{3A9B3C99-1BBB-4AE4-BE8A-9ED5DC86B0A5}" type="pres">
      <dgm:prSet presAssocID="{97BD0BC2-BB0D-4CA7-880D-D13124D5596F}" presName="connectorText" presStyleLbl="sibTrans2D1" presStyleIdx="2" presStyleCnt="4"/>
      <dgm:spPr/>
      <dgm:t>
        <a:bodyPr/>
        <a:lstStyle/>
        <a:p>
          <a:endParaRPr lang="en-US"/>
        </a:p>
      </dgm:t>
    </dgm:pt>
    <dgm:pt modelId="{D3C6C2A4-420C-4E5B-8D91-CE815161CFC5}" type="pres">
      <dgm:prSet presAssocID="{2BF67E39-846C-4153-B817-ACADF72E84C6}" presName="node" presStyleLbl="node1" presStyleIdx="3" presStyleCnt="5">
        <dgm:presLayoutVars>
          <dgm:bulletEnabled val="1"/>
        </dgm:presLayoutVars>
      </dgm:prSet>
      <dgm:spPr/>
      <dgm:t>
        <a:bodyPr/>
        <a:lstStyle/>
        <a:p>
          <a:endParaRPr lang="en-US"/>
        </a:p>
      </dgm:t>
    </dgm:pt>
    <dgm:pt modelId="{2470A1E7-0617-453D-B66D-BEEE54787775}" type="pres">
      <dgm:prSet presAssocID="{2F971A68-E310-468C-B68C-8213F663AD8E}" presName="sibTrans" presStyleLbl="sibTrans2D1" presStyleIdx="3" presStyleCnt="4"/>
      <dgm:spPr/>
      <dgm:t>
        <a:bodyPr/>
        <a:lstStyle/>
        <a:p>
          <a:endParaRPr lang="en-US"/>
        </a:p>
      </dgm:t>
    </dgm:pt>
    <dgm:pt modelId="{A1EC8A26-6EB5-43CD-BF30-CA93A06E750B}" type="pres">
      <dgm:prSet presAssocID="{2F971A68-E310-468C-B68C-8213F663AD8E}" presName="connectorText" presStyleLbl="sibTrans2D1" presStyleIdx="3" presStyleCnt="4"/>
      <dgm:spPr/>
      <dgm:t>
        <a:bodyPr/>
        <a:lstStyle/>
        <a:p>
          <a:endParaRPr lang="en-US"/>
        </a:p>
      </dgm:t>
    </dgm:pt>
    <dgm:pt modelId="{F225EF71-5C3C-4017-B6F1-75B66AC9BE6C}" type="pres">
      <dgm:prSet presAssocID="{F93FA09A-5910-4B24-A16B-9B2C32A656B4}" presName="node" presStyleLbl="node1" presStyleIdx="4" presStyleCnt="5">
        <dgm:presLayoutVars>
          <dgm:bulletEnabled val="1"/>
        </dgm:presLayoutVars>
      </dgm:prSet>
      <dgm:spPr/>
      <dgm:t>
        <a:bodyPr/>
        <a:lstStyle/>
        <a:p>
          <a:endParaRPr lang="en-US"/>
        </a:p>
      </dgm:t>
    </dgm:pt>
  </dgm:ptLst>
  <dgm:cxnLst>
    <dgm:cxn modelId="{7AF1970F-7280-4630-8B39-61CEB6AD2ECF}" srcId="{1C1AA74E-F56E-4CF9-BA62-7BA3F7340B22}" destId="{296A0BA5-5BB5-4D41-8B50-6EA0562EDCEA}" srcOrd="0" destOrd="0" parTransId="{68116605-DC71-4FA7-99F9-7ED3A5AE75AF}" sibTransId="{275212A4-B654-4EEC-B536-A050326D39CB}"/>
    <dgm:cxn modelId="{EC7FFA4F-03A8-4C0C-AFF6-C64EBA056E43}" type="presOf" srcId="{527C360C-A9A5-4C9F-844A-919B2B753C8A}" destId="{2AE58567-F313-4EED-8440-CD443151AB97}" srcOrd="0" destOrd="0" presId="urn:microsoft.com/office/officeart/2005/8/layout/process1"/>
    <dgm:cxn modelId="{94F4D278-3CAF-4740-9766-48E3567C63C8}" type="presOf" srcId="{C751E391-3925-4578-ACF0-3BE6A94EC2D3}" destId="{5833AFF2-E3A4-47A2-8EDE-31A3CFAFFFE4}" srcOrd="0" destOrd="0" presId="urn:microsoft.com/office/officeart/2005/8/layout/process1"/>
    <dgm:cxn modelId="{43E511B3-996E-45A0-B8B3-4227B4DCA632}" srcId="{1C1AA74E-F56E-4CF9-BA62-7BA3F7340B22}" destId="{F93FA09A-5910-4B24-A16B-9B2C32A656B4}" srcOrd="4" destOrd="0" parTransId="{59E7E7E6-1E18-417B-AA36-996485323833}" sibTransId="{9A47FE1A-7838-48C6-A66D-71DA3551077D}"/>
    <dgm:cxn modelId="{DB535BEE-477D-4D16-B1E7-1D76836098BD}" srcId="{1C1AA74E-F56E-4CF9-BA62-7BA3F7340B22}" destId="{2BF67E39-846C-4153-B817-ACADF72E84C6}" srcOrd="3" destOrd="0" parTransId="{01CECD46-1A0E-486B-9009-004C04C6D605}" sibTransId="{2F971A68-E310-468C-B68C-8213F663AD8E}"/>
    <dgm:cxn modelId="{0CEFA529-688B-4639-AF73-9DBDEBB43EAF}" type="presOf" srcId="{1C1AA74E-F56E-4CF9-BA62-7BA3F7340B22}" destId="{1791B33D-6709-4411-8D8E-F5AB7B77F08B}" srcOrd="0" destOrd="0" presId="urn:microsoft.com/office/officeart/2005/8/layout/process1"/>
    <dgm:cxn modelId="{E0CFD03C-CA2E-4023-864B-6B53517E7A3D}" type="presOf" srcId="{275212A4-B654-4EEC-B536-A050326D39CB}" destId="{C5EC8A07-519C-4CB3-B7A8-3E7A822FFF66}" srcOrd="1" destOrd="0" presId="urn:microsoft.com/office/officeart/2005/8/layout/process1"/>
    <dgm:cxn modelId="{BF0EC2F2-D6BA-4297-BB2B-E1D42FD35611}" type="presOf" srcId="{275212A4-B654-4EEC-B536-A050326D39CB}" destId="{4FFFF7EF-FEAF-4C3D-940F-D21C7E13AEC8}" srcOrd="0" destOrd="0" presId="urn:microsoft.com/office/officeart/2005/8/layout/process1"/>
    <dgm:cxn modelId="{32862758-1970-4623-B39E-806F939CA62F}" type="presOf" srcId="{296A0BA5-5BB5-4D41-8B50-6EA0562EDCEA}" destId="{4DD29C6D-B721-4058-A88F-CD45E83496CF}" srcOrd="0" destOrd="0" presId="urn:microsoft.com/office/officeart/2005/8/layout/process1"/>
    <dgm:cxn modelId="{C025971F-FA70-4517-875B-DC0FAEBA40B6}" type="presOf" srcId="{97BD0BC2-BB0D-4CA7-880D-D13124D5596F}" destId="{3A9B3C99-1BBB-4AE4-BE8A-9ED5DC86B0A5}" srcOrd="1" destOrd="0" presId="urn:microsoft.com/office/officeart/2005/8/layout/process1"/>
    <dgm:cxn modelId="{AA6D5887-46B8-41E8-B6B1-F156E49821F3}" type="presOf" srcId="{2BF67E39-846C-4153-B817-ACADF72E84C6}" destId="{D3C6C2A4-420C-4E5B-8D91-CE815161CFC5}" srcOrd="0" destOrd="0" presId="urn:microsoft.com/office/officeart/2005/8/layout/process1"/>
    <dgm:cxn modelId="{CD706C0E-D568-4FF6-9C6F-C62FBB2459ED}" srcId="{1C1AA74E-F56E-4CF9-BA62-7BA3F7340B22}" destId="{527C360C-A9A5-4C9F-844A-919B2B753C8A}" srcOrd="1" destOrd="0" parTransId="{A20B6FAE-2DB2-4510-9F9F-40D6A4FB4A8E}" sibTransId="{AA1F4D2D-FC82-4FA5-A744-00BBF4569981}"/>
    <dgm:cxn modelId="{BCE5C3E7-6F74-4C2C-88BE-C1A5C69C7F7C}" srcId="{1C1AA74E-F56E-4CF9-BA62-7BA3F7340B22}" destId="{C751E391-3925-4578-ACF0-3BE6A94EC2D3}" srcOrd="2" destOrd="0" parTransId="{9D2BB4E0-8600-41C3-BEF7-947D66DA72EF}" sibTransId="{97BD0BC2-BB0D-4CA7-880D-D13124D5596F}"/>
    <dgm:cxn modelId="{0378BD25-1777-4C7E-8AAA-24B1E115E27C}" type="presOf" srcId="{AA1F4D2D-FC82-4FA5-A744-00BBF4569981}" destId="{7368117E-AF9A-46E1-9DC3-60E77D531DB2}" srcOrd="1" destOrd="0" presId="urn:microsoft.com/office/officeart/2005/8/layout/process1"/>
    <dgm:cxn modelId="{69DCB406-3DCB-4A7C-9711-FC54CDCDEEEF}" type="presOf" srcId="{2F971A68-E310-468C-B68C-8213F663AD8E}" destId="{A1EC8A26-6EB5-43CD-BF30-CA93A06E750B}" srcOrd="1" destOrd="0" presId="urn:microsoft.com/office/officeart/2005/8/layout/process1"/>
    <dgm:cxn modelId="{615D1FEE-A5F9-4A3D-AD8F-DB3BB3F00265}" type="presOf" srcId="{2F971A68-E310-468C-B68C-8213F663AD8E}" destId="{2470A1E7-0617-453D-B66D-BEEE54787775}" srcOrd="0" destOrd="0" presId="urn:microsoft.com/office/officeart/2005/8/layout/process1"/>
    <dgm:cxn modelId="{B232C0DD-04B5-4761-9133-433169CEDEF9}" type="presOf" srcId="{97BD0BC2-BB0D-4CA7-880D-D13124D5596F}" destId="{DF3E53E5-BC6D-4153-9292-D07845A5F4D5}" srcOrd="0" destOrd="0" presId="urn:microsoft.com/office/officeart/2005/8/layout/process1"/>
    <dgm:cxn modelId="{FA938853-F7BB-4963-9F5B-8F67A0E3B192}" type="presOf" srcId="{AA1F4D2D-FC82-4FA5-A744-00BBF4569981}" destId="{DC5E5881-FC47-4D11-8F8E-EB75B468E25D}" srcOrd="0" destOrd="0" presId="urn:microsoft.com/office/officeart/2005/8/layout/process1"/>
    <dgm:cxn modelId="{668BBB17-A9A1-4BC3-9921-76A271A097E0}" type="presOf" srcId="{F93FA09A-5910-4B24-A16B-9B2C32A656B4}" destId="{F225EF71-5C3C-4017-B6F1-75B66AC9BE6C}" srcOrd="0" destOrd="0" presId="urn:microsoft.com/office/officeart/2005/8/layout/process1"/>
    <dgm:cxn modelId="{0FD6769F-A185-4402-AFED-EAE59F83CB80}" type="presParOf" srcId="{1791B33D-6709-4411-8D8E-F5AB7B77F08B}" destId="{4DD29C6D-B721-4058-A88F-CD45E83496CF}" srcOrd="0" destOrd="0" presId="urn:microsoft.com/office/officeart/2005/8/layout/process1"/>
    <dgm:cxn modelId="{97D3CD7F-6143-4C7C-A7A5-A28D3C86014B}" type="presParOf" srcId="{1791B33D-6709-4411-8D8E-F5AB7B77F08B}" destId="{4FFFF7EF-FEAF-4C3D-940F-D21C7E13AEC8}" srcOrd="1" destOrd="0" presId="urn:microsoft.com/office/officeart/2005/8/layout/process1"/>
    <dgm:cxn modelId="{BE81EC84-C325-4181-882E-CA09AB525531}" type="presParOf" srcId="{4FFFF7EF-FEAF-4C3D-940F-D21C7E13AEC8}" destId="{C5EC8A07-519C-4CB3-B7A8-3E7A822FFF66}" srcOrd="0" destOrd="0" presId="urn:microsoft.com/office/officeart/2005/8/layout/process1"/>
    <dgm:cxn modelId="{2E227D87-F657-4920-BF5A-C951DC98B06B}" type="presParOf" srcId="{1791B33D-6709-4411-8D8E-F5AB7B77F08B}" destId="{2AE58567-F313-4EED-8440-CD443151AB97}" srcOrd="2" destOrd="0" presId="urn:microsoft.com/office/officeart/2005/8/layout/process1"/>
    <dgm:cxn modelId="{6501352C-7726-4C68-9A6A-7B17F60953D7}" type="presParOf" srcId="{1791B33D-6709-4411-8D8E-F5AB7B77F08B}" destId="{DC5E5881-FC47-4D11-8F8E-EB75B468E25D}" srcOrd="3" destOrd="0" presId="urn:microsoft.com/office/officeart/2005/8/layout/process1"/>
    <dgm:cxn modelId="{4FEC038E-BE1E-4FAC-9449-60EEAD6619CD}" type="presParOf" srcId="{DC5E5881-FC47-4D11-8F8E-EB75B468E25D}" destId="{7368117E-AF9A-46E1-9DC3-60E77D531DB2}" srcOrd="0" destOrd="0" presId="urn:microsoft.com/office/officeart/2005/8/layout/process1"/>
    <dgm:cxn modelId="{98DBB998-9FCF-494D-9CBA-5F684F5580EA}" type="presParOf" srcId="{1791B33D-6709-4411-8D8E-F5AB7B77F08B}" destId="{5833AFF2-E3A4-47A2-8EDE-31A3CFAFFFE4}" srcOrd="4" destOrd="0" presId="urn:microsoft.com/office/officeart/2005/8/layout/process1"/>
    <dgm:cxn modelId="{C49F993A-3702-485E-884B-B9D6E43E929C}" type="presParOf" srcId="{1791B33D-6709-4411-8D8E-F5AB7B77F08B}" destId="{DF3E53E5-BC6D-4153-9292-D07845A5F4D5}" srcOrd="5" destOrd="0" presId="urn:microsoft.com/office/officeart/2005/8/layout/process1"/>
    <dgm:cxn modelId="{1A1602EE-18AA-411D-ABA2-19276F08DF08}" type="presParOf" srcId="{DF3E53E5-BC6D-4153-9292-D07845A5F4D5}" destId="{3A9B3C99-1BBB-4AE4-BE8A-9ED5DC86B0A5}" srcOrd="0" destOrd="0" presId="urn:microsoft.com/office/officeart/2005/8/layout/process1"/>
    <dgm:cxn modelId="{3CB21022-7E2B-46F1-8F01-38EA4408B1A1}" type="presParOf" srcId="{1791B33D-6709-4411-8D8E-F5AB7B77F08B}" destId="{D3C6C2A4-420C-4E5B-8D91-CE815161CFC5}" srcOrd="6" destOrd="0" presId="urn:microsoft.com/office/officeart/2005/8/layout/process1"/>
    <dgm:cxn modelId="{20D24DFC-F29F-4F3F-B664-01A7BD79457A}" type="presParOf" srcId="{1791B33D-6709-4411-8D8E-F5AB7B77F08B}" destId="{2470A1E7-0617-453D-B66D-BEEE54787775}" srcOrd="7" destOrd="0" presId="urn:microsoft.com/office/officeart/2005/8/layout/process1"/>
    <dgm:cxn modelId="{764D4B86-4945-41A0-AFBD-429408EF16BA}" type="presParOf" srcId="{2470A1E7-0617-453D-B66D-BEEE54787775}" destId="{A1EC8A26-6EB5-43CD-BF30-CA93A06E750B}" srcOrd="0" destOrd="0" presId="urn:microsoft.com/office/officeart/2005/8/layout/process1"/>
    <dgm:cxn modelId="{8B0D5D12-A87A-488A-B35F-F315597AAC64}" type="presParOf" srcId="{1791B33D-6709-4411-8D8E-F5AB7B77F08B}" destId="{F225EF71-5C3C-4017-B6F1-75B66AC9BE6C}"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216AE86-7F07-41CD-ABB2-77281880DB9C}"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48B096C5-F0B3-44A0-8609-9B249671A3C1}">
      <dgm:prSet custT="1"/>
      <dgm:spPr/>
      <dgm:t>
        <a:bodyPr/>
        <a:lstStyle/>
        <a:p>
          <a:pPr rtl="0"/>
          <a:r>
            <a:rPr lang="en-US" sz="1800" b="0" dirty="0" smtClean="0">
              <a:solidFill>
                <a:schemeClr val="bg1"/>
              </a:solidFill>
            </a:rPr>
            <a:t>📈 Insights</a:t>
          </a:r>
          <a:r>
            <a:rPr lang="en-US" sz="1800" b="1" dirty="0" smtClean="0">
              <a:solidFill>
                <a:schemeClr val="bg1"/>
              </a:solidFill>
            </a:rPr>
            <a:t>:</a:t>
          </a:r>
          <a:endParaRPr lang="en-US" sz="1800" dirty="0">
            <a:solidFill>
              <a:schemeClr val="bg1"/>
            </a:solidFill>
          </a:endParaRPr>
        </a:p>
      </dgm:t>
    </dgm:pt>
    <dgm:pt modelId="{003608EA-9397-4B37-B28E-6B28BE8D0DC3}" type="parTrans" cxnId="{11D1C96C-BF0B-4A71-86FA-1BB69F21F7D9}">
      <dgm:prSet/>
      <dgm:spPr/>
      <dgm:t>
        <a:bodyPr/>
        <a:lstStyle/>
        <a:p>
          <a:endParaRPr lang="en-US">
            <a:solidFill>
              <a:schemeClr val="bg1"/>
            </a:solidFill>
          </a:endParaRPr>
        </a:p>
      </dgm:t>
    </dgm:pt>
    <dgm:pt modelId="{853D2488-4B8D-42DE-B6DB-FCD55652F690}" type="sibTrans" cxnId="{11D1C96C-BF0B-4A71-86FA-1BB69F21F7D9}">
      <dgm:prSet/>
      <dgm:spPr/>
      <dgm:t>
        <a:bodyPr/>
        <a:lstStyle/>
        <a:p>
          <a:endParaRPr lang="en-US">
            <a:solidFill>
              <a:schemeClr val="bg1"/>
            </a:solidFill>
          </a:endParaRPr>
        </a:p>
      </dgm:t>
    </dgm:pt>
    <dgm:pt modelId="{CB5B35D4-5BB8-47C0-AF1A-C11C78BB38A4}">
      <dgm:prSet/>
      <dgm:spPr/>
      <dgm:t>
        <a:bodyPr/>
        <a:lstStyle/>
        <a:p>
          <a:pPr rtl="0"/>
          <a:r>
            <a:rPr lang="en-US" b="1" dirty="0" smtClean="0">
              <a:solidFill>
                <a:schemeClr val="bg1"/>
              </a:solidFill>
            </a:rPr>
            <a:t>Youngest group (18–25) spends the most (₹2582):</a:t>
          </a:r>
          <a:br>
            <a:rPr lang="en-US" b="1" dirty="0" smtClean="0">
              <a:solidFill>
                <a:schemeClr val="bg1"/>
              </a:solidFill>
            </a:rPr>
          </a:br>
          <a:r>
            <a:rPr lang="en-US" dirty="0" smtClean="0">
              <a:solidFill>
                <a:schemeClr val="bg1"/>
              </a:solidFill>
            </a:rPr>
            <a:t>Indicates </a:t>
          </a:r>
          <a:r>
            <a:rPr lang="en-US" b="1" dirty="0" smtClean="0">
              <a:solidFill>
                <a:schemeClr val="bg1"/>
              </a:solidFill>
            </a:rPr>
            <a:t>higher adoption of digital/payment channels</a:t>
          </a:r>
          <a:r>
            <a:rPr lang="en-US" dirty="0" smtClean="0">
              <a:solidFill>
                <a:schemeClr val="bg1"/>
              </a:solidFill>
            </a:rPr>
            <a:t>.</a:t>
          </a:r>
          <a:endParaRPr lang="en-US" dirty="0">
            <a:solidFill>
              <a:schemeClr val="bg1"/>
            </a:solidFill>
          </a:endParaRPr>
        </a:p>
      </dgm:t>
    </dgm:pt>
    <dgm:pt modelId="{8CFD4039-02F4-498D-B7BA-1EACC9538606}" type="parTrans" cxnId="{91801CCC-6A4D-44C6-A0BA-C4CD1A015B28}">
      <dgm:prSet/>
      <dgm:spPr/>
      <dgm:t>
        <a:bodyPr/>
        <a:lstStyle/>
        <a:p>
          <a:endParaRPr lang="en-US">
            <a:solidFill>
              <a:schemeClr val="bg1"/>
            </a:solidFill>
          </a:endParaRPr>
        </a:p>
      </dgm:t>
    </dgm:pt>
    <dgm:pt modelId="{7CD9E3BA-A654-4D8E-B476-AD0D18626155}" type="sibTrans" cxnId="{91801CCC-6A4D-44C6-A0BA-C4CD1A015B28}">
      <dgm:prSet/>
      <dgm:spPr/>
      <dgm:t>
        <a:bodyPr/>
        <a:lstStyle/>
        <a:p>
          <a:endParaRPr lang="en-US">
            <a:solidFill>
              <a:schemeClr val="bg1"/>
            </a:solidFill>
          </a:endParaRPr>
        </a:p>
      </dgm:t>
    </dgm:pt>
    <dgm:pt modelId="{80BCA41C-9730-49DD-B720-AF5C537D522D}">
      <dgm:prSet/>
      <dgm:spPr/>
      <dgm:t>
        <a:bodyPr/>
        <a:lstStyle/>
        <a:p>
          <a:pPr rtl="0"/>
          <a:r>
            <a:rPr lang="en-US" smtClean="0">
              <a:solidFill>
                <a:schemeClr val="bg1"/>
              </a:solidFill>
            </a:rPr>
            <a:t>Target </a:t>
          </a:r>
          <a:r>
            <a:rPr lang="en-US" b="1" smtClean="0">
              <a:solidFill>
                <a:schemeClr val="bg1"/>
              </a:solidFill>
            </a:rPr>
            <a:t>18–25 group</a:t>
          </a:r>
          <a:r>
            <a:rPr lang="en-US" smtClean="0">
              <a:solidFill>
                <a:schemeClr val="bg1"/>
              </a:solidFill>
            </a:rPr>
            <a:t> with </a:t>
          </a:r>
          <a:r>
            <a:rPr lang="en-US" b="1" smtClean="0">
              <a:solidFill>
                <a:schemeClr val="bg1"/>
              </a:solidFill>
            </a:rPr>
            <a:t>youth-oriented financial products (UPI, credit cards, micro-investments)</a:t>
          </a:r>
          <a:r>
            <a:rPr lang="en-US" smtClean="0">
              <a:solidFill>
                <a:schemeClr val="bg1"/>
              </a:solidFill>
            </a:rPr>
            <a:t>.</a:t>
          </a:r>
          <a:endParaRPr lang="en-US">
            <a:solidFill>
              <a:schemeClr val="bg1"/>
            </a:solidFill>
          </a:endParaRPr>
        </a:p>
      </dgm:t>
    </dgm:pt>
    <dgm:pt modelId="{E736240E-17B2-4D2A-A036-A30C3D00865A}" type="parTrans" cxnId="{4C5538CC-63EF-49BD-91DB-3343FA4A4F7F}">
      <dgm:prSet/>
      <dgm:spPr/>
      <dgm:t>
        <a:bodyPr/>
        <a:lstStyle/>
        <a:p>
          <a:endParaRPr lang="en-US">
            <a:solidFill>
              <a:schemeClr val="bg1"/>
            </a:solidFill>
          </a:endParaRPr>
        </a:p>
      </dgm:t>
    </dgm:pt>
    <dgm:pt modelId="{63C4309D-CC52-45B0-A1D8-24F6C0347DA9}" type="sibTrans" cxnId="{4C5538CC-63EF-49BD-91DB-3343FA4A4F7F}">
      <dgm:prSet/>
      <dgm:spPr/>
      <dgm:t>
        <a:bodyPr/>
        <a:lstStyle/>
        <a:p>
          <a:endParaRPr lang="en-US">
            <a:solidFill>
              <a:schemeClr val="bg1"/>
            </a:solidFill>
          </a:endParaRPr>
        </a:p>
      </dgm:t>
    </dgm:pt>
    <dgm:pt modelId="{95268629-1BF1-4279-BFCF-7DEB26B83BCC}">
      <dgm:prSet custT="1"/>
      <dgm:spPr/>
      <dgm:t>
        <a:bodyPr/>
        <a:lstStyle/>
        <a:p>
          <a:pPr rtl="0"/>
          <a:r>
            <a:rPr lang="en-US" sz="1500" b="1" dirty="0" smtClean="0">
              <a:solidFill>
                <a:schemeClr val="bg1"/>
              </a:solidFill>
            </a:rPr>
            <a:t>41–60 group spends least (~₹2442):</a:t>
          </a:r>
          <a:r>
            <a:rPr lang="en-US" sz="1500" dirty="0" smtClean="0">
              <a:solidFill>
                <a:schemeClr val="bg1"/>
              </a:solidFill>
            </a:rPr>
            <a:t> Possibly more cautious or diversified spending habits.</a:t>
          </a:r>
          <a:endParaRPr lang="en-US" sz="1500" dirty="0">
            <a:solidFill>
              <a:schemeClr val="bg1"/>
            </a:solidFill>
          </a:endParaRPr>
        </a:p>
      </dgm:t>
    </dgm:pt>
    <dgm:pt modelId="{1B9C1C27-C129-40D0-9FAB-16F5505EA9E8}" type="parTrans" cxnId="{869F6A8F-F8D1-4AA0-8598-A998D399AAEB}">
      <dgm:prSet/>
      <dgm:spPr/>
      <dgm:t>
        <a:bodyPr/>
        <a:lstStyle/>
        <a:p>
          <a:endParaRPr lang="en-US">
            <a:solidFill>
              <a:schemeClr val="bg1"/>
            </a:solidFill>
          </a:endParaRPr>
        </a:p>
      </dgm:t>
    </dgm:pt>
    <dgm:pt modelId="{084A3CC7-E9A5-48EE-8EE3-36CDBFC98BA6}" type="sibTrans" cxnId="{869F6A8F-F8D1-4AA0-8598-A998D399AAEB}">
      <dgm:prSet/>
      <dgm:spPr/>
      <dgm:t>
        <a:bodyPr/>
        <a:lstStyle/>
        <a:p>
          <a:endParaRPr lang="en-US">
            <a:solidFill>
              <a:schemeClr val="bg1"/>
            </a:solidFill>
          </a:endParaRPr>
        </a:p>
      </dgm:t>
    </dgm:pt>
    <dgm:pt modelId="{0EEA9A35-DA91-40A4-88C9-94DD15DDBDED}">
      <dgm:prSet custT="1"/>
      <dgm:spPr/>
      <dgm:t>
        <a:bodyPr/>
        <a:lstStyle/>
        <a:p>
          <a:pPr rtl="0"/>
          <a:r>
            <a:rPr lang="en-US" sz="1600" dirty="0" smtClean="0">
              <a:solidFill>
                <a:schemeClr val="bg1"/>
              </a:solidFill>
            </a:rPr>
            <a:t>Retain </a:t>
          </a:r>
          <a:r>
            <a:rPr lang="en-US" sz="1600" b="1" dirty="0" smtClean="0">
              <a:solidFill>
                <a:schemeClr val="bg1"/>
              </a:solidFill>
            </a:rPr>
            <a:t>41–60 group</a:t>
          </a:r>
          <a:r>
            <a:rPr lang="en-US" sz="1600" dirty="0" smtClean="0">
              <a:solidFill>
                <a:schemeClr val="bg1"/>
              </a:solidFill>
            </a:rPr>
            <a:t> with </a:t>
          </a:r>
          <a:r>
            <a:rPr lang="en-US" sz="1600" b="1" dirty="0" smtClean="0">
              <a:solidFill>
                <a:schemeClr val="bg1"/>
              </a:solidFill>
            </a:rPr>
            <a:t>wealth products (mutual funds, insurance, retirement)</a:t>
          </a:r>
          <a:r>
            <a:rPr lang="en-US" sz="1600" dirty="0" smtClean="0">
              <a:solidFill>
                <a:schemeClr val="bg1"/>
              </a:solidFill>
            </a:rPr>
            <a:t>.</a:t>
          </a:r>
          <a:endParaRPr lang="en-US" sz="1600" dirty="0">
            <a:solidFill>
              <a:schemeClr val="bg1"/>
            </a:solidFill>
          </a:endParaRPr>
        </a:p>
      </dgm:t>
    </dgm:pt>
    <dgm:pt modelId="{C537EB3A-F8F6-447E-80D4-CDAA78F84A77}" type="parTrans" cxnId="{A599F8B6-878A-428B-97D0-144B482715F0}">
      <dgm:prSet/>
      <dgm:spPr/>
      <dgm:t>
        <a:bodyPr/>
        <a:lstStyle/>
        <a:p>
          <a:endParaRPr lang="en-US">
            <a:solidFill>
              <a:schemeClr val="bg1"/>
            </a:solidFill>
          </a:endParaRPr>
        </a:p>
      </dgm:t>
    </dgm:pt>
    <dgm:pt modelId="{0237097F-73D6-49CB-845F-E84108F248B1}" type="sibTrans" cxnId="{A599F8B6-878A-428B-97D0-144B482715F0}">
      <dgm:prSet/>
      <dgm:spPr/>
      <dgm:t>
        <a:bodyPr/>
        <a:lstStyle/>
        <a:p>
          <a:endParaRPr lang="en-US">
            <a:solidFill>
              <a:schemeClr val="bg1"/>
            </a:solidFill>
          </a:endParaRPr>
        </a:p>
      </dgm:t>
    </dgm:pt>
    <dgm:pt modelId="{07BE1512-C2DA-41C7-A1E8-9991FE42C85B}" type="pres">
      <dgm:prSet presAssocID="{7216AE86-7F07-41CD-ABB2-77281880DB9C}" presName="Name0" presStyleCnt="0">
        <dgm:presLayoutVars>
          <dgm:dir/>
          <dgm:resizeHandles val="exact"/>
        </dgm:presLayoutVars>
      </dgm:prSet>
      <dgm:spPr/>
      <dgm:t>
        <a:bodyPr/>
        <a:lstStyle/>
        <a:p>
          <a:endParaRPr lang="en-US"/>
        </a:p>
      </dgm:t>
    </dgm:pt>
    <dgm:pt modelId="{B7D1E9E2-B270-4496-94A9-099476C9F104}" type="pres">
      <dgm:prSet presAssocID="{48B096C5-F0B3-44A0-8609-9B249671A3C1}" presName="node" presStyleLbl="node1" presStyleIdx="0" presStyleCnt="5" custLinFactNeighborX="1225" custLinFactNeighborY="2309">
        <dgm:presLayoutVars>
          <dgm:bulletEnabled val="1"/>
        </dgm:presLayoutVars>
      </dgm:prSet>
      <dgm:spPr/>
      <dgm:t>
        <a:bodyPr/>
        <a:lstStyle/>
        <a:p>
          <a:endParaRPr lang="en-US"/>
        </a:p>
      </dgm:t>
    </dgm:pt>
    <dgm:pt modelId="{74A3C724-0B21-4071-9C7B-0F26F6436E89}" type="pres">
      <dgm:prSet presAssocID="{853D2488-4B8D-42DE-B6DB-FCD55652F690}" presName="sibTrans" presStyleLbl="sibTrans2D1" presStyleIdx="0" presStyleCnt="4"/>
      <dgm:spPr/>
      <dgm:t>
        <a:bodyPr/>
        <a:lstStyle/>
        <a:p>
          <a:endParaRPr lang="en-US"/>
        </a:p>
      </dgm:t>
    </dgm:pt>
    <dgm:pt modelId="{5CCBC942-A48C-4A40-BCF5-DD6D48DB7061}" type="pres">
      <dgm:prSet presAssocID="{853D2488-4B8D-42DE-B6DB-FCD55652F690}" presName="connectorText" presStyleLbl="sibTrans2D1" presStyleIdx="0" presStyleCnt="4"/>
      <dgm:spPr/>
      <dgm:t>
        <a:bodyPr/>
        <a:lstStyle/>
        <a:p>
          <a:endParaRPr lang="en-US"/>
        </a:p>
      </dgm:t>
    </dgm:pt>
    <dgm:pt modelId="{85196F91-6468-483B-BEDD-E83A7A4B67C4}" type="pres">
      <dgm:prSet presAssocID="{CB5B35D4-5BB8-47C0-AF1A-C11C78BB38A4}" presName="node" presStyleLbl="node1" presStyleIdx="1" presStyleCnt="5">
        <dgm:presLayoutVars>
          <dgm:bulletEnabled val="1"/>
        </dgm:presLayoutVars>
      </dgm:prSet>
      <dgm:spPr/>
      <dgm:t>
        <a:bodyPr/>
        <a:lstStyle/>
        <a:p>
          <a:endParaRPr lang="en-US"/>
        </a:p>
      </dgm:t>
    </dgm:pt>
    <dgm:pt modelId="{CB02099C-02A4-4691-8681-1EE854144D78}" type="pres">
      <dgm:prSet presAssocID="{7CD9E3BA-A654-4D8E-B476-AD0D18626155}" presName="sibTrans" presStyleLbl="sibTrans2D1" presStyleIdx="1" presStyleCnt="4"/>
      <dgm:spPr/>
      <dgm:t>
        <a:bodyPr/>
        <a:lstStyle/>
        <a:p>
          <a:endParaRPr lang="en-US"/>
        </a:p>
      </dgm:t>
    </dgm:pt>
    <dgm:pt modelId="{3C2D8390-D97E-4D64-AB69-0F1EC75149B3}" type="pres">
      <dgm:prSet presAssocID="{7CD9E3BA-A654-4D8E-B476-AD0D18626155}" presName="connectorText" presStyleLbl="sibTrans2D1" presStyleIdx="1" presStyleCnt="4"/>
      <dgm:spPr/>
      <dgm:t>
        <a:bodyPr/>
        <a:lstStyle/>
        <a:p>
          <a:endParaRPr lang="en-US"/>
        </a:p>
      </dgm:t>
    </dgm:pt>
    <dgm:pt modelId="{5616F615-F7FF-4685-831A-4BF66B497289}" type="pres">
      <dgm:prSet presAssocID="{80BCA41C-9730-49DD-B720-AF5C537D522D}" presName="node" presStyleLbl="node1" presStyleIdx="2" presStyleCnt="5">
        <dgm:presLayoutVars>
          <dgm:bulletEnabled val="1"/>
        </dgm:presLayoutVars>
      </dgm:prSet>
      <dgm:spPr/>
      <dgm:t>
        <a:bodyPr/>
        <a:lstStyle/>
        <a:p>
          <a:endParaRPr lang="en-US"/>
        </a:p>
      </dgm:t>
    </dgm:pt>
    <dgm:pt modelId="{A890CB49-AC38-40FE-8538-6C7EE742DFB1}" type="pres">
      <dgm:prSet presAssocID="{63C4309D-CC52-45B0-A1D8-24F6C0347DA9}" presName="sibTrans" presStyleLbl="sibTrans2D1" presStyleIdx="2" presStyleCnt="4"/>
      <dgm:spPr/>
      <dgm:t>
        <a:bodyPr/>
        <a:lstStyle/>
        <a:p>
          <a:endParaRPr lang="en-US"/>
        </a:p>
      </dgm:t>
    </dgm:pt>
    <dgm:pt modelId="{985B2383-68E3-49C7-91C4-DD922566AABD}" type="pres">
      <dgm:prSet presAssocID="{63C4309D-CC52-45B0-A1D8-24F6C0347DA9}" presName="connectorText" presStyleLbl="sibTrans2D1" presStyleIdx="2" presStyleCnt="4"/>
      <dgm:spPr/>
      <dgm:t>
        <a:bodyPr/>
        <a:lstStyle/>
        <a:p>
          <a:endParaRPr lang="en-US"/>
        </a:p>
      </dgm:t>
    </dgm:pt>
    <dgm:pt modelId="{32BEA6FF-6872-4002-B3E3-1440386F06BC}" type="pres">
      <dgm:prSet presAssocID="{95268629-1BF1-4279-BFCF-7DEB26B83BCC}" presName="node" presStyleLbl="node1" presStyleIdx="3" presStyleCnt="5">
        <dgm:presLayoutVars>
          <dgm:bulletEnabled val="1"/>
        </dgm:presLayoutVars>
      </dgm:prSet>
      <dgm:spPr/>
      <dgm:t>
        <a:bodyPr/>
        <a:lstStyle/>
        <a:p>
          <a:endParaRPr lang="en-US"/>
        </a:p>
      </dgm:t>
    </dgm:pt>
    <dgm:pt modelId="{72304741-BD4D-4904-82EF-3AB85BE63CA4}" type="pres">
      <dgm:prSet presAssocID="{084A3CC7-E9A5-48EE-8EE3-36CDBFC98BA6}" presName="sibTrans" presStyleLbl="sibTrans2D1" presStyleIdx="3" presStyleCnt="4"/>
      <dgm:spPr/>
      <dgm:t>
        <a:bodyPr/>
        <a:lstStyle/>
        <a:p>
          <a:endParaRPr lang="en-US"/>
        </a:p>
      </dgm:t>
    </dgm:pt>
    <dgm:pt modelId="{CD4C52E4-F38F-425B-A948-5682E257308F}" type="pres">
      <dgm:prSet presAssocID="{084A3CC7-E9A5-48EE-8EE3-36CDBFC98BA6}" presName="connectorText" presStyleLbl="sibTrans2D1" presStyleIdx="3" presStyleCnt="4"/>
      <dgm:spPr/>
      <dgm:t>
        <a:bodyPr/>
        <a:lstStyle/>
        <a:p>
          <a:endParaRPr lang="en-US"/>
        </a:p>
      </dgm:t>
    </dgm:pt>
    <dgm:pt modelId="{9C69E686-4AEC-437C-981A-449E64A49EF8}" type="pres">
      <dgm:prSet presAssocID="{0EEA9A35-DA91-40A4-88C9-94DD15DDBDED}" presName="node" presStyleLbl="node1" presStyleIdx="4" presStyleCnt="5">
        <dgm:presLayoutVars>
          <dgm:bulletEnabled val="1"/>
        </dgm:presLayoutVars>
      </dgm:prSet>
      <dgm:spPr/>
      <dgm:t>
        <a:bodyPr/>
        <a:lstStyle/>
        <a:p>
          <a:endParaRPr lang="en-US"/>
        </a:p>
      </dgm:t>
    </dgm:pt>
  </dgm:ptLst>
  <dgm:cxnLst>
    <dgm:cxn modelId="{8158B056-A445-4B80-93A0-751D567F2AB6}" type="presOf" srcId="{63C4309D-CC52-45B0-A1D8-24F6C0347DA9}" destId="{985B2383-68E3-49C7-91C4-DD922566AABD}" srcOrd="1" destOrd="0" presId="urn:microsoft.com/office/officeart/2005/8/layout/process1"/>
    <dgm:cxn modelId="{372B9257-6442-4F82-9945-0206A2D79461}" type="presOf" srcId="{95268629-1BF1-4279-BFCF-7DEB26B83BCC}" destId="{32BEA6FF-6872-4002-B3E3-1440386F06BC}" srcOrd="0" destOrd="0" presId="urn:microsoft.com/office/officeart/2005/8/layout/process1"/>
    <dgm:cxn modelId="{80F66C00-FBAF-4991-8FC8-A68B89199474}" type="presOf" srcId="{853D2488-4B8D-42DE-B6DB-FCD55652F690}" destId="{74A3C724-0B21-4071-9C7B-0F26F6436E89}" srcOrd="0" destOrd="0" presId="urn:microsoft.com/office/officeart/2005/8/layout/process1"/>
    <dgm:cxn modelId="{A936D94A-CF07-4386-B786-FA02128C54A5}" type="presOf" srcId="{0EEA9A35-DA91-40A4-88C9-94DD15DDBDED}" destId="{9C69E686-4AEC-437C-981A-449E64A49EF8}" srcOrd="0" destOrd="0" presId="urn:microsoft.com/office/officeart/2005/8/layout/process1"/>
    <dgm:cxn modelId="{A599F8B6-878A-428B-97D0-144B482715F0}" srcId="{7216AE86-7F07-41CD-ABB2-77281880DB9C}" destId="{0EEA9A35-DA91-40A4-88C9-94DD15DDBDED}" srcOrd="4" destOrd="0" parTransId="{C537EB3A-F8F6-447E-80D4-CDAA78F84A77}" sibTransId="{0237097F-73D6-49CB-845F-E84108F248B1}"/>
    <dgm:cxn modelId="{85812299-F3CC-47B9-9DF9-2DD9A235BEE6}" type="presOf" srcId="{7216AE86-7F07-41CD-ABB2-77281880DB9C}" destId="{07BE1512-C2DA-41C7-A1E8-9991FE42C85B}" srcOrd="0" destOrd="0" presId="urn:microsoft.com/office/officeart/2005/8/layout/process1"/>
    <dgm:cxn modelId="{869F6A8F-F8D1-4AA0-8598-A998D399AAEB}" srcId="{7216AE86-7F07-41CD-ABB2-77281880DB9C}" destId="{95268629-1BF1-4279-BFCF-7DEB26B83BCC}" srcOrd="3" destOrd="0" parTransId="{1B9C1C27-C129-40D0-9FAB-16F5505EA9E8}" sibTransId="{084A3CC7-E9A5-48EE-8EE3-36CDBFC98BA6}"/>
    <dgm:cxn modelId="{7098606C-D9EE-4D59-B88B-D9011E6E85C8}" type="presOf" srcId="{48B096C5-F0B3-44A0-8609-9B249671A3C1}" destId="{B7D1E9E2-B270-4496-94A9-099476C9F104}" srcOrd="0" destOrd="0" presId="urn:microsoft.com/office/officeart/2005/8/layout/process1"/>
    <dgm:cxn modelId="{91801CCC-6A4D-44C6-A0BA-C4CD1A015B28}" srcId="{7216AE86-7F07-41CD-ABB2-77281880DB9C}" destId="{CB5B35D4-5BB8-47C0-AF1A-C11C78BB38A4}" srcOrd="1" destOrd="0" parTransId="{8CFD4039-02F4-498D-B7BA-1EACC9538606}" sibTransId="{7CD9E3BA-A654-4D8E-B476-AD0D18626155}"/>
    <dgm:cxn modelId="{6D87BC26-86E6-4DC2-A388-5549CAC4ED91}" type="presOf" srcId="{63C4309D-CC52-45B0-A1D8-24F6C0347DA9}" destId="{A890CB49-AC38-40FE-8538-6C7EE742DFB1}" srcOrd="0" destOrd="0" presId="urn:microsoft.com/office/officeart/2005/8/layout/process1"/>
    <dgm:cxn modelId="{14AEE240-D048-477B-9B8C-33878F183B8A}" type="presOf" srcId="{80BCA41C-9730-49DD-B720-AF5C537D522D}" destId="{5616F615-F7FF-4685-831A-4BF66B497289}" srcOrd="0" destOrd="0" presId="urn:microsoft.com/office/officeart/2005/8/layout/process1"/>
    <dgm:cxn modelId="{11D1C96C-BF0B-4A71-86FA-1BB69F21F7D9}" srcId="{7216AE86-7F07-41CD-ABB2-77281880DB9C}" destId="{48B096C5-F0B3-44A0-8609-9B249671A3C1}" srcOrd="0" destOrd="0" parTransId="{003608EA-9397-4B37-B28E-6B28BE8D0DC3}" sibTransId="{853D2488-4B8D-42DE-B6DB-FCD55652F690}"/>
    <dgm:cxn modelId="{E220D643-DCA8-4C15-AB22-E1D164019B43}" type="presOf" srcId="{7CD9E3BA-A654-4D8E-B476-AD0D18626155}" destId="{CB02099C-02A4-4691-8681-1EE854144D78}" srcOrd="0" destOrd="0" presId="urn:microsoft.com/office/officeart/2005/8/layout/process1"/>
    <dgm:cxn modelId="{2ABED853-BF50-47DA-B44D-1AC5EB143557}" type="presOf" srcId="{853D2488-4B8D-42DE-B6DB-FCD55652F690}" destId="{5CCBC942-A48C-4A40-BCF5-DD6D48DB7061}" srcOrd="1" destOrd="0" presId="urn:microsoft.com/office/officeart/2005/8/layout/process1"/>
    <dgm:cxn modelId="{5BC8E9A9-0B17-48C7-9BE4-22D145BE36DE}" type="presOf" srcId="{7CD9E3BA-A654-4D8E-B476-AD0D18626155}" destId="{3C2D8390-D97E-4D64-AB69-0F1EC75149B3}" srcOrd="1" destOrd="0" presId="urn:microsoft.com/office/officeart/2005/8/layout/process1"/>
    <dgm:cxn modelId="{4C5538CC-63EF-49BD-91DB-3343FA4A4F7F}" srcId="{7216AE86-7F07-41CD-ABB2-77281880DB9C}" destId="{80BCA41C-9730-49DD-B720-AF5C537D522D}" srcOrd="2" destOrd="0" parTransId="{E736240E-17B2-4D2A-A036-A30C3D00865A}" sibTransId="{63C4309D-CC52-45B0-A1D8-24F6C0347DA9}"/>
    <dgm:cxn modelId="{7D1AC223-9459-427D-8B27-C6A545DE75EB}" type="presOf" srcId="{084A3CC7-E9A5-48EE-8EE3-36CDBFC98BA6}" destId="{72304741-BD4D-4904-82EF-3AB85BE63CA4}" srcOrd="0" destOrd="0" presId="urn:microsoft.com/office/officeart/2005/8/layout/process1"/>
    <dgm:cxn modelId="{D7DFB0E8-7E05-4D3F-8CA7-BD16EBEC74FF}" type="presOf" srcId="{084A3CC7-E9A5-48EE-8EE3-36CDBFC98BA6}" destId="{CD4C52E4-F38F-425B-A948-5682E257308F}" srcOrd="1" destOrd="0" presId="urn:microsoft.com/office/officeart/2005/8/layout/process1"/>
    <dgm:cxn modelId="{A4802FA2-BF40-4A9E-9EDE-D31FC6835A6E}" type="presOf" srcId="{CB5B35D4-5BB8-47C0-AF1A-C11C78BB38A4}" destId="{85196F91-6468-483B-BEDD-E83A7A4B67C4}" srcOrd="0" destOrd="0" presId="urn:microsoft.com/office/officeart/2005/8/layout/process1"/>
    <dgm:cxn modelId="{094881C1-BEA0-437C-A595-6D84999CE255}" type="presParOf" srcId="{07BE1512-C2DA-41C7-A1E8-9991FE42C85B}" destId="{B7D1E9E2-B270-4496-94A9-099476C9F104}" srcOrd="0" destOrd="0" presId="urn:microsoft.com/office/officeart/2005/8/layout/process1"/>
    <dgm:cxn modelId="{F3B87F8D-024A-447A-94E3-D29D4412B529}" type="presParOf" srcId="{07BE1512-C2DA-41C7-A1E8-9991FE42C85B}" destId="{74A3C724-0B21-4071-9C7B-0F26F6436E89}" srcOrd="1" destOrd="0" presId="urn:microsoft.com/office/officeart/2005/8/layout/process1"/>
    <dgm:cxn modelId="{8338CD2A-9323-45E6-8468-D1AF55E23ED2}" type="presParOf" srcId="{74A3C724-0B21-4071-9C7B-0F26F6436E89}" destId="{5CCBC942-A48C-4A40-BCF5-DD6D48DB7061}" srcOrd="0" destOrd="0" presId="urn:microsoft.com/office/officeart/2005/8/layout/process1"/>
    <dgm:cxn modelId="{65791119-FCEA-44F2-88AB-A375479158CD}" type="presParOf" srcId="{07BE1512-C2DA-41C7-A1E8-9991FE42C85B}" destId="{85196F91-6468-483B-BEDD-E83A7A4B67C4}" srcOrd="2" destOrd="0" presId="urn:microsoft.com/office/officeart/2005/8/layout/process1"/>
    <dgm:cxn modelId="{94EAA61D-2F41-45D7-8031-40DA822C7A4F}" type="presParOf" srcId="{07BE1512-C2DA-41C7-A1E8-9991FE42C85B}" destId="{CB02099C-02A4-4691-8681-1EE854144D78}" srcOrd="3" destOrd="0" presId="urn:microsoft.com/office/officeart/2005/8/layout/process1"/>
    <dgm:cxn modelId="{19F8AAB2-DA8E-4B57-9B57-47B1676FD5B2}" type="presParOf" srcId="{CB02099C-02A4-4691-8681-1EE854144D78}" destId="{3C2D8390-D97E-4D64-AB69-0F1EC75149B3}" srcOrd="0" destOrd="0" presId="urn:microsoft.com/office/officeart/2005/8/layout/process1"/>
    <dgm:cxn modelId="{2FFC4D22-A0AA-4078-8B07-6FF517B6A871}" type="presParOf" srcId="{07BE1512-C2DA-41C7-A1E8-9991FE42C85B}" destId="{5616F615-F7FF-4685-831A-4BF66B497289}" srcOrd="4" destOrd="0" presId="urn:microsoft.com/office/officeart/2005/8/layout/process1"/>
    <dgm:cxn modelId="{0DE7DB66-35D6-4EBB-BB2C-5B76C7D2847F}" type="presParOf" srcId="{07BE1512-C2DA-41C7-A1E8-9991FE42C85B}" destId="{A890CB49-AC38-40FE-8538-6C7EE742DFB1}" srcOrd="5" destOrd="0" presId="urn:microsoft.com/office/officeart/2005/8/layout/process1"/>
    <dgm:cxn modelId="{DDB0E928-970F-4F38-BC04-070AD2051B86}" type="presParOf" srcId="{A890CB49-AC38-40FE-8538-6C7EE742DFB1}" destId="{985B2383-68E3-49C7-91C4-DD922566AABD}" srcOrd="0" destOrd="0" presId="urn:microsoft.com/office/officeart/2005/8/layout/process1"/>
    <dgm:cxn modelId="{F29D1B07-53F6-4656-8C9B-E79F25370385}" type="presParOf" srcId="{07BE1512-C2DA-41C7-A1E8-9991FE42C85B}" destId="{32BEA6FF-6872-4002-B3E3-1440386F06BC}" srcOrd="6" destOrd="0" presId="urn:microsoft.com/office/officeart/2005/8/layout/process1"/>
    <dgm:cxn modelId="{1C3D786B-7906-4ECA-B37B-E265A3CCA3FB}" type="presParOf" srcId="{07BE1512-C2DA-41C7-A1E8-9991FE42C85B}" destId="{72304741-BD4D-4904-82EF-3AB85BE63CA4}" srcOrd="7" destOrd="0" presId="urn:microsoft.com/office/officeart/2005/8/layout/process1"/>
    <dgm:cxn modelId="{FD71C06E-DB1B-4703-B869-EC68734B416C}" type="presParOf" srcId="{72304741-BD4D-4904-82EF-3AB85BE63CA4}" destId="{CD4C52E4-F38F-425B-A948-5682E257308F}" srcOrd="0" destOrd="0" presId="urn:microsoft.com/office/officeart/2005/8/layout/process1"/>
    <dgm:cxn modelId="{825A8A0B-D0EE-4D86-968E-210380A4E4D5}" type="presParOf" srcId="{07BE1512-C2DA-41C7-A1E8-9991FE42C85B}" destId="{9C69E686-4AEC-437C-981A-449E64A49EF8}"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54E417F-1205-492D-83EB-F6CD0E14D81B}" type="doc">
      <dgm:prSet loTypeId="urn:microsoft.com/office/officeart/2005/8/layout/vList2" loCatId="list" qsTypeId="urn:microsoft.com/office/officeart/2005/8/quickstyle/3d3" qsCatId="3D" csTypeId="urn:microsoft.com/office/officeart/2005/8/colors/accent1_2" csCatId="accent1"/>
      <dgm:spPr/>
      <dgm:t>
        <a:bodyPr/>
        <a:lstStyle/>
        <a:p>
          <a:endParaRPr lang="en-US"/>
        </a:p>
      </dgm:t>
    </dgm:pt>
    <dgm:pt modelId="{A7D6868E-60A2-47F5-9C78-AD0A826AA664}">
      <dgm:prSet/>
      <dgm:spPr/>
      <dgm:t>
        <a:bodyPr/>
        <a:lstStyle/>
        <a:p>
          <a:pPr rtl="0"/>
          <a:r>
            <a:rPr lang="en-US" dirty="0" smtClean="0"/>
            <a:t>This ER diagram represents the relational structure of the database, highlighting three tables – customers, accounts and transactions. It shows how customers can have multiple accounts, and each account can record multiple transactions. This design ensures data integrity and allows efficient analysis of customer behavior, account balances, and transaction patterns</a:t>
          </a:r>
          <a:endParaRPr lang="en-US" dirty="0"/>
        </a:p>
      </dgm:t>
    </dgm:pt>
    <dgm:pt modelId="{C29BCF77-1920-4BD4-85A0-1294BEE3B437}" type="parTrans" cxnId="{FB2E046D-0EBF-4BE5-9E60-31402071DF7C}">
      <dgm:prSet/>
      <dgm:spPr/>
      <dgm:t>
        <a:bodyPr/>
        <a:lstStyle/>
        <a:p>
          <a:endParaRPr lang="en-US"/>
        </a:p>
      </dgm:t>
    </dgm:pt>
    <dgm:pt modelId="{E43E839A-D528-438E-BB33-ACF43763C4F6}" type="sibTrans" cxnId="{FB2E046D-0EBF-4BE5-9E60-31402071DF7C}">
      <dgm:prSet/>
      <dgm:spPr/>
      <dgm:t>
        <a:bodyPr/>
        <a:lstStyle/>
        <a:p>
          <a:endParaRPr lang="en-US"/>
        </a:p>
      </dgm:t>
    </dgm:pt>
    <dgm:pt modelId="{00C29916-E6B2-449B-B29F-B67634BF1F80}" type="pres">
      <dgm:prSet presAssocID="{554E417F-1205-492D-83EB-F6CD0E14D81B}" presName="linear" presStyleCnt="0">
        <dgm:presLayoutVars>
          <dgm:animLvl val="lvl"/>
          <dgm:resizeHandles val="exact"/>
        </dgm:presLayoutVars>
      </dgm:prSet>
      <dgm:spPr/>
      <dgm:t>
        <a:bodyPr/>
        <a:lstStyle/>
        <a:p>
          <a:endParaRPr lang="en-US"/>
        </a:p>
      </dgm:t>
    </dgm:pt>
    <dgm:pt modelId="{4C1CBB79-0829-4E51-A651-DCA7ADF12D2F}" type="pres">
      <dgm:prSet presAssocID="{A7D6868E-60A2-47F5-9C78-AD0A826AA664}" presName="parentText" presStyleLbl="node1" presStyleIdx="0" presStyleCnt="1" custLinFactNeighborX="-1642" custLinFactNeighborY="590">
        <dgm:presLayoutVars>
          <dgm:chMax val="0"/>
          <dgm:bulletEnabled val="1"/>
        </dgm:presLayoutVars>
      </dgm:prSet>
      <dgm:spPr/>
      <dgm:t>
        <a:bodyPr/>
        <a:lstStyle/>
        <a:p>
          <a:endParaRPr lang="en-US"/>
        </a:p>
      </dgm:t>
    </dgm:pt>
  </dgm:ptLst>
  <dgm:cxnLst>
    <dgm:cxn modelId="{E63CB9F8-2681-47F0-9772-872DCC93C072}" type="presOf" srcId="{A7D6868E-60A2-47F5-9C78-AD0A826AA664}" destId="{4C1CBB79-0829-4E51-A651-DCA7ADF12D2F}" srcOrd="0" destOrd="0" presId="urn:microsoft.com/office/officeart/2005/8/layout/vList2"/>
    <dgm:cxn modelId="{A275D939-2F62-4E2A-BD52-714C7AD231DD}" type="presOf" srcId="{554E417F-1205-492D-83EB-F6CD0E14D81B}" destId="{00C29916-E6B2-449B-B29F-B67634BF1F80}" srcOrd="0" destOrd="0" presId="urn:microsoft.com/office/officeart/2005/8/layout/vList2"/>
    <dgm:cxn modelId="{FB2E046D-0EBF-4BE5-9E60-31402071DF7C}" srcId="{554E417F-1205-492D-83EB-F6CD0E14D81B}" destId="{A7D6868E-60A2-47F5-9C78-AD0A826AA664}" srcOrd="0" destOrd="0" parTransId="{C29BCF77-1920-4BD4-85A0-1294BEE3B437}" sibTransId="{E43E839A-D528-438E-BB33-ACF43763C4F6}"/>
    <dgm:cxn modelId="{FFC56F4E-0629-4D01-8870-B36E40870977}" type="presParOf" srcId="{00C29916-E6B2-449B-B29F-B67634BF1F80}" destId="{4C1CBB79-0829-4E51-A651-DCA7ADF12D2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4D21A3-519D-40E1-8F34-6B4A0B336A52}">
      <dsp:nvSpPr>
        <dsp:cNvPr id="0" name=""/>
        <dsp:cNvSpPr/>
      </dsp:nvSpPr>
      <dsp:spPr>
        <a:xfrm>
          <a:off x="0" y="399393"/>
          <a:ext cx="11936920" cy="437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dirty="0" smtClean="0">
              <a:solidFill>
                <a:schemeClr val="bg1"/>
              </a:solidFill>
            </a:rPr>
            <a:t>📈 Insights: </a:t>
          </a:r>
          <a:endParaRPr lang="en-US" sz="1700" kern="1200" dirty="0">
            <a:solidFill>
              <a:schemeClr val="bg1"/>
            </a:solidFill>
          </a:endParaRPr>
        </a:p>
      </dsp:txBody>
      <dsp:txXfrm>
        <a:off x="21361" y="420754"/>
        <a:ext cx="11894198" cy="394858"/>
      </dsp:txXfrm>
    </dsp:sp>
    <dsp:sp modelId="{EE180301-4060-491E-B7FF-E8D82FB0CF77}">
      <dsp:nvSpPr>
        <dsp:cNvPr id="0" name=""/>
        <dsp:cNvSpPr/>
      </dsp:nvSpPr>
      <dsp:spPr>
        <a:xfrm>
          <a:off x="0" y="902277"/>
          <a:ext cx="11936920" cy="437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dirty="0" smtClean="0">
              <a:solidFill>
                <a:schemeClr val="bg1"/>
              </a:solidFill>
            </a:rPr>
            <a:t>1. The </a:t>
          </a:r>
          <a:r>
            <a:rPr lang="en-US" sz="1700" b="1" kern="1200" dirty="0" smtClean="0">
              <a:solidFill>
                <a:schemeClr val="bg1"/>
              </a:solidFill>
            </a:rPr>
            <a:t>East region</a:t>
          </a:r>
          <a:r>
            <a:rPr lang="en-US" sz="1700" kern="1200" dirty="0" smtClean="0">
              <a:solidFill>
                <a:schemeClr val="bg1"/>
              </a:solidFill>
            </a:rPr>
            <a:t> should be targeted with </a:t>
          </a:r>
          <a:r>
            <a:rPr lang="en-US" sz="1700" b="1" kern="1200" dirty="0" smtClean="0">
              <a:solidFill>
                <a:schemeClr val="bg1"/>
              </a:solidFill>
            </a:rPr>
            <a:t>marketing campaigns, local offers, or new branch/digital service rollouts</a:t>
          </a:r>
          <a:r>
            <a:rPr lang="en-US" sz="1700" kern="1200" dirty="0" smtClean="0">
              <a:solidFill>
                <a:schemeClr val="bg1"/>
              </a:solidFill>
            </a:rPr>
            <a:t> to close the gap. </a:t>
          </a:r>
          <a:endParaRPr lang="en-US" sz="1700" kern="1200" dirty="0">
            <a:solidFill>
              <a:schemeClr val="bg1"/>
            </a:solidFill>
          </a:endParaRPr>
        </a:p>
      </dsp:txBody>
      <dsp:txXfrm>
        <a:off x="21361" y="923638"/>
        <a:ext cx="11894198" cy="394858"/>
      </dsp:txXfrm>
    </dsp:sp>
    <dsp:sp modelId="{50510CB5-6680-4858-8DF1-82BF94CCE96A}">
      <dsp:nvSpPr>
        <dsp:cNvPr id="0" name=""/>
        <dsp:cNvSpPr/>
      </dsp:nvSpPr>
      <dsp:spPr>
        <a:xfrm>
          <a:off x="0" y="1411632"/>
          <a:ext cx="11936920" cy="4375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dirty="0" smtClean="0">
              <a:solidFill>
                <a:schemeClr val="bg1"/>
              </a:solidFill>
            </a:rPr>
            <a:t>2. Since customer spread is fairly balanced, the bank is </a:t>
          </a:r>
          <a:r>
            <a:rPr lang="en-US" sz="1700" b="1" kern="1200" dirty="0" smtClean="0">
              <a:solidFill>
                <a:schemeClr val="bg1"/>
              </a:solidFill>
            </a:rPr>
            <a:t>not overly dependent on one region</a:t>
          </a:r>
          <a:r>
            <a:rPr lang="en-US" sz="1700" kern="1200" dirty="0" smtClean="0">
              <a:solidFill>
                <a:schemeClr val="bg1"/>
              </a:solidFill>
            </a:rPr>
            <a:t> — reducing regional risk.</a:t>
          </a:r>
          <a:endParaRPr lang="en-US" sz="1700" kern="1200" dirty="0">
            <a:solidFill>
              <a:schemeClr val="bg1"/>
            </a:solidFill>
          </a:endParaRPr>
        </a:p>
      </dsp:txBody>
      <dsp:txXfrm>
        <a:off x="21361" y="1432993"/>
        <a:ext cx="11894198" cy="3948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12D2AE-1390-4A02-966B-7E597B328AC4}">
      <dsp:nvSpPr>
        <dsp:cNvPr id="0" name=""/>
        <dsp:cNvSpPr/>
      </dsp:nvSpPr>
      <dsp:spPr>
        <a:xfrm>
          <a:off x="0" y="32976"/>
          <a:ext cx="11790485"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smtClean="0">
              <a:solidFill>
                <a:schemeClr val="bg1"/>
              </a:solidFill>
            </a:rPr>
            <a:t>📈 Insights:</a:t>
          </a:r>
          <a:endParaRPr lang="en-US" sz="1600" b="1" kern="1200">
            <a:solidFill>
              <a:schemeClr val="bg1"/>
            </a:solidFill>
          </a:endParaRPr>
        </a:p>
      </dsp:txBody>
      <dsp:txXfrm>
        <a:off x="20104" y="53080"/>
        <a:ext cx="11750277" cy="371632"/>
      </dsp:txXfrm>
    </dsp:sp>
    <dsp:sp modelId="{EA163940-58B0-4753-844A-829A033BA946}">
      <dsp:nvSpPr>
        <dsp:cNvPr id="0" name=""/>
        <dsp:cNvSpPr/>
      </dsp:nvSpPr>
      <dsp:spPr>
        <a:xfrm>
          <a:off x="0" y="490896"/>
          <a:ext cx="11790485"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solidFill>
                <a:schemeClr val="bg1"/>
              </a:solidFill>
            </a:rPr>
            <a:t>-&gt; Here, Savings holders maintain slightly higher balances than business/current accounts.</a:t>
          </a:r>
          <a:endParaRPr lang="en-US" sz="1600" kern="1200" dirty="0">
            <a:solidFill>
              <a:schemeClr val="bg1"/>
            </a:solidFill>
          </a:endParaRPr>
        </a:p>
      </dsp:txBody>
      <dsp:txXfrm>
        <a:off x="20104" y="511000"/>
        <a:ext cx="11750277" cy="371632"/>
      </dsp:txXfrm>
    </dsp:sp>
    <dsp:sp modelId="{2308CED5-E645-47EB-9F4B-45B72591DE6E}">
      <dsp:nvSpPr>
        <dsp:cNvPr id="0" name=""/>
        <dsp:cNvSpPr/>
      </dsp:nvSpPr>
      <dsp:spPr>
        <a:xfrm>
          <a:off x="0" y="948816"/>
          <a:ext cx="11790485"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solidFill>
                <a:schemeClr val="bg1"/>
              </a:solidFill>
            </a:rPr>
            <a:t>-&gt; Again, not much difference, Current account customers may need </a:t>
          </a:r>
          <a:r>
            <a:rPr lang="en-US" sz="1600" b="1" kern="1200" dirty="0" smtClean="0">
              <a:solidFill>
                <a:schemeClr val="bg1"/>
              </a:solidFill>
            </a:rPr>
            <a:t>working capital or overdraft products</a:t>
          </a:r>
          <a:r>
            <a:rPr lang="en-US" sz="1600" kern="1200" dirty="0" smtClean="0">
              <a:solidFill>
                <a:schemeClr val="bg1"/>
              </a:solidFill>
            </a:rPr>
            <a:t> since balances are little lower.</a:t>
          </a:r>
          <a:endParaRPr lang="en-US" sz="1600" kern="1200" dirty="0">
            <a:solidFill>
              <a:schemeClr val="bg1"/>
            </a:solidFill>
          </a:endParaRPr>
        </a:p>
      </dsp:txBody>
      <dsp:txXfrm>
        <a:off x="20104" y="968920"/>
        <a:ext cx="11750277" cy="3716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382468-E75B-43F3-8753-2AE0E4700554}">
      <dsp:nvSpPr>
        <dsp:cNvPr id="0" name=""/>
        <dsp:cNvSpPr/>
      </dsp:nvSpPr>
      <dsp:spPr>
        <a:xfrm>
          <a:off x="6844" y="9779"/>
          <a:ext cx="1473810" cy="15630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t>📈 Insights:</a:t>
          </a:r>
          <a:endParaRPr lang="en-US" sz="1800" kern="1200" dirty="0"/>
        </a:p>
      </dsp:txBody>
      <dsp:txXfrm>
        <a:off x="50010" y="52945"/>
        <a:ext cx="1387478" cy="1476713"/>
      </dsp:txXfrm>
    </dsp:sp>
    <dsp:sp modelId="{DFBF3DC0-B686-466E-A934-A0E75760BCD6}">
      <dsp:nvSpPr>
        <dsp:cNvPr id="0" name=""/>
        <dsp:cNvSpPr/>
      </dsp:nvSpPr>
      <dsp:spPr>
        <a:xfrm rot="21591826">
          <a:off x="1626324" y="606084"/>
          <a:ext cx="308821" cy="3655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1626324" y="679295"/>
        <a:ext cx="216175" cy="219303"/>
      </dsp:txXfrm>
    </dsp:sp>
    <dsp:sp modelId="{4A9A2A86-6368-4009-B88C-969652FD3A37}">
      <dsp:nvSpPr>
        <dsp:cNvPr id="0" name=""/>
        <dsp:cNvSpPr/>
      </dsp:nvSpPr>
      <dsp:spPr>
        <a:xfrm>
          <a:off x="2063334" y="4889"/>
          <a:ext cx="1473810" cy="15630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en-US" sz="1400" kern="1200" dirty="0" smtClean="0"/>
            <a:t>Here. 40+ customers have multiple accounts (up to </a:t>
          </a:r>
          <a:r>
            <a:rPr lang="en-US" sz="1400" b="1" kern="1200" dirty="0" smtClean="0"/>
            <a:t>6 accounts each</a:t>
          </a:r>
          <a:r>
            <a:rPr lang="en-US" sz="1400" kern="1200" dirty="0" smtClean="0"/>
            <a:t>).</a:t>
          </a:r>
          <a:endParaRPr lang="en-US" sz="1400" kern="1200" dirty="0"/>
        </a:p>
      </dsp:txBody>
      <dsp:txXfrm>
        <a:off x="2106500" y="48055"/>
        <a:ext cx="1387478" cy="1476713"/>
      </dsp:txXfrm>
    </dsp:sp>
    <dsp:sp modelId="{F333D65B-96AF-4651-92E6-B3FE64207F59}">
      <dsp:nvSpPr>
        <dsp:cNvPr id="0" name=""/>
        <dsp:cNvSpPr/>
      </dsp:nvSpPr>
      <dsp:spPr>
        <a:xfrm>
          <a:off x="3684526" y="603659"/>
          <a:ext cx="312447" cy="3655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3684526" y="676760"/>
        <a:ext cx="218713" cy="219303"/>
      </dsp:txXfrm>
    </dsp:sp>
    <dsp:sp modelId="{110BB255-0F77-41F1-A08D-A68FE25CC1F6}">
      <dsp:nvSpPr>
        <dsp:cNvPr id="0" name=""/>
        <dsp:cNvSpPr/>
      </dsp:nvSpPr>
      <dsp:spPr>
        <a:xfrm>
          <a:off x="4126669" y="4889"/>
          <a:ext cx="1473810" cy="15630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en-US" sz="1400" kern="1200" dirty="0" smtClean="0"/>
            <a:t>Many customers trust the bank enough to open multiple accounts</a:t>
          </a:r>
          <a:r>
            <a:rPr lang="en-US" sz="1200" kern="1200" dirty="0" smtClean="0"/>
            <a:t>.</a:t>
          </a:r>
          <a:endParaRPr lang="en-US" sz="1200" kern="1200" dirty="0"/>
        </a:p>
      </dsp:txBody>
      <dsp:txXfrm>
        <a:off x="4169835" y="48055"/>
        <a:ext cx="1387478" cy="1476713"/>
      </dsp:txXfrm>
    </dsp:sp>
    <dsp:sp modelId="{8FB66829-9547-41BA-BDD0-7FCB468B8345}">
      <dsp:nvSpPr>
        <dsp:cNvPr id="0" name=""/>
        <dsp:cNvSpPr/>
      </dsp:nvSpPr>
      <dsp:spPr>
        <a:xfrm>
          <a:off x="5747861" y="603659"/>
          <a:ext cx="312447" cy="3655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5747861" y="676760"/>
        <a:ext cx="218713" cy="219303"/>
      </dsp:txXfrm>
    </dsp:sp>
    <dsp:sp modelId="{0586FB19-B375-43A8-A7A1-4E916F519A33}">
      <dsp:nvSpPr>
        <dsp:cNvPr id="0" name=""/>
        <dsp:cNvSpPr/>
      </dsp:nvSpPr>
      <dsp:spPr>
        <a:xfrm>
          <a:off x="6190004" y="4889"/>
          <a:ext cx="1473810" cy="15630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en-US" sz="1400" kern="1200" dirty="0" smtClean="0"/>
            <a:t>Customers </a:t>
          </a:r>
          <a:r>
            <a:rPr lang="en-US" sz="1400" b="0" kern="1200" dirty="0" smtClean="0"/>
            <a:t>with 4–6 accounts </a:t>
          </a:r>
          <a:r>
            <a:rPr lang="en-US" sz="1400" b="1" kern="1200" dirty="0" smtClean="0"/>
            <a:t>(e.g., CUST0033, CUST0048)</a:t>
          </a:r>
          <a:r>
            <a:rPr lang="en-US" sz="1400" kern="1200" dirty="0" smtClean="0"/>
            <a:t> are strong candidates for </a:t>
          </a:r>
          <a:r>
            <a:rPr lang="en-US" sz="1400" b="0" kern="1200" dirty="0" smtClean="0"/>
            <a:t>priority banking.</a:t>
          </a:r>
          <a:endParaRPr lang="en-US" sz="1400" b="0" kern="1200" dirty="0"/>
        </a:p>
      </dsp:txBody>
      <dsp:txXfrm>
        <a:off x="6233170" y="48055"/>
        <a:ext cx="1387478" cy="1476713"/>
      </dsp:txXfrm>
    </dsp:sp>
    <dsp:sp modelId="{639DE1B3-A1BD-49FC-B312-355CF9BA89D1}">
      <dsp:nvSpPr>
        <dsp:cNvPr id="0" name=""/>
        <dsp:cNvSpPr/>
      </dsp:nvSpPr>
      <dsp:spPr>
        <a:xfrm>
          <a:off x="7811196" y="603659"/>
          <a:ext cx="312447" cy="3655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7811196" y="676760"/>
        <a:ext cx="218713" cy="219303"/>
      </dsp:txXfrm>
    </dsp:sp>
    <dsp:sp modelId="{B5D45CFF-90C2-40F3-9626-A51594A8598E}">
      <dsp:nvSpPr>
        <dsp:cNvPr id="0" name=""/>
        <dsp:cNvSpPr/>
      </dsp:nvSpPr>
      <dsp:spPr>
        <a:xfrm>
          <a:off x="8253339" y="4889"/>
          <a:ext cx="1473810" cy="15630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US" sz="1600" kern="1200" dirty="0" smtClean="0"/>
            <a:t>Offer </a:t>
          </a:r>
          <a:r>
            <a:rPr lang="en-US" sz="1600" b="1" kern="1200" dirty="0" smtClean="0"/>
            <a:t>loyalty programs</a:t>
          </a:r>
          <a:r>
            <a:rPr lang="en-US" sz="1600" kern="1200" dirty="0" smtClean="0"/>
            <a:t> for customers with ≥3 accounts</a:t>
          </a:r>
          <a:r>
            <a:rPr lang="en-US" sz="1200" kern="1200" dirty="0" smtClean="0"/>
            <a:t>.</a:t>
          </a:r>
          <a:endParaRPr lang="en-US" sz="1200" kern="1200" dirty="0"/>
        </a:p>
      </dsp:txBody>
      <dsp:txXfrm>
        <a:off x="8296505" y="48055"/>
        <a:ext cx="1387478" cy="1476713"/>
      </dsp:txXfrm>
    </dsp:sp>
    <dsp:sp modelId="{FCD4A3F1-9BF4-4B89-9D42-6BEC89344FDE}">
      <dsp:nvSpPr>
        <dsp:cNvPr id="0" name=""/>
        <dsp:cNvSpPr/>
      </dsp:nvSpPr>
      <dsp:spPr>
        <a:xfrm>
          <a:off x="9874531" y="603659"/>
          <a:ext cx="312447" cy="3655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9874531" y="676760"/>
        <a:ext cx="218713" cy="219303"/>
      </dsp:txXfrm>
    </dsp:sp>
    <dsp:sp modelId="{9946C78D-A47C-49BD-B97F-9BAA4F5AEF02}">
      <dsp:nvSpPr>
        <dsp:cNvPr id="0" name=""/>
        <dsp:cNvSpPr/>
      </dsp:nvSpPr>
      <dsp:spPr>
        <a:xfrm>
          <a:off x="10316674" y="4889"/>
          <a:ext cx="1473810" cy="15630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en-US" sz="1400" kern="1200" dirty="0" smtClean="0"/>
            <a:t>Monitor </a:t>
          </a:r>
          <a:r>
            <a:rPr lang="en-US" sz="1400" b="1" kern="1200" dirty="0" smtClean="0"/>
            <a:t>high-activity customers</a:t>
          </a:r>
          <a:r>
            <a:rPr lang="en-US" sz="1400" kern="1200" dirty="0" smtClean="0"/>
            <a:t> for cross-selling loans or investment products.</a:t>
          </a:r>
          <a:endParaRPr lang="en-US" sz="1400" kern="1200" dirty="0"/>
        </a:p>
      </dsp:txBody>
      <dsp:txXfrm>
        <a:off x="10359840" y="48055"/>
        <a:ext cx="1387478" cy="14767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7EEEC3-B22E-41DF-BA54-0FD53226478B}">
      <dsp:nvSpPr>
        <dsp:cNvPr id="0" name=""/>
        <dsp:cNvSpPr/>
      </dsp:nvSpPr>
      <dsp:spPr>
        <a:xfrm>
          <a:off x="0" y="19700"/>
          <a:ext cx="11772899"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smtClean="0"/>
            <a:t>📈 Insights:</a:t>
          </a:r>
          <a:endParaRPr lang="en-US" sz="1600" b="1" kern="1200"/>
        </a:p>
      </dsp:txBody>
      <dsp:txXfrm>
        <a:off x="20104" y="39804"/>
        <a:ext cx="11732691" cy="371632"/>
      </dsp:txXfrm>
    </dsp:sp>
    <dsp:sp modelId="{C644E519-3F60-40FB-9B57-C0FDAF8931C0}">
      <dsp:nvSpPr>
        <dsp:cNvPr id="0" name=""/>
        <dsp:cNvSpPr/>
      </dsp:nvSpPr>
      <dsp:spPr>
        <a:xfrm>
          <a:off x="0" y="468828"/>
          <a:ext cx="11772899"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dirty="0" smtClean="0"/>
            <a:t>Online &amp; ATM Dominate</a:t>
          </a:r>
          <a:r>
            <a:rPr lang="en-US" sz="1600" kern="1200" dirty="0" smtClean="0"/>
            <a:t> (1.6M each) → Digital transactions are </a:t>
          </a:r>
          <a:r>
            <a:rPr lang="en-US" sz="1600" b="1" kern="1200" dirty="0" smtClean="0"/>
            <a:t>more active than branch/POS</a:t>
          </a:r>
          <a:r>
            <a:rPr lang="en-US" sz="1600" kern="1200" dirty="0" smtClean="0"/>
            <a:t>.</a:t>
          </a:r>
          <a:endParaRPr lang="en-US" sz="1600" kern="1200" dirty="0"/>
        </a:p>
      </dsp:txBody>
      <dsp:txXfrm>
        <a:off x="20104" y="488932"/>
        <a:ext cx="11732691" cy="371632"/>
      </dsp:txXfrm>
    </dsp:sp>
    <dsp:sp modelId="{CBC920CB-95D3-4F49-900B-FCCA498902CB}">
      <dsp:nvSpPr>
        <dsp:cNvPr id="0" name=""/>
        <dsp:cNvSpPr/>
      </dsp:nvSpPr>
      <dsp:spPr>
        <a:xfrm>
          <a:off x="0" y="926748"/>
          <a:ext cx="11772899"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Traditional banking remains relevant and usage is still strong (1.5–1.6M) </a:t>
          </a:r>
          <a:endParaRPr lang="en-US" sz="1600" kern="1200" dirty="0"/>
        </a:p>
      </dsp:txBody>
      <dsp:txXfrm>
        <a:off x="20104" y="946852"/>
        <a:ext cx="11732691" cy="371632"/>
      </dsp:txXfrm>
    </dsp:sp>
    <dsp:sp modelId="{9334143F-6375-4C04-B6B9-0453E61B5715}">
      <dsp:nvSpPr>
        <dsp:cNvPr id="0" name=""/>
        <dsp:cNvSpPr/>
      </dsp:nvSpPr>
      <dsp:spPr>
        <a:xfrm>
          <a:off x="0" y="1384668"/>
          <a:ext cx="11772899"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We can Push </a:t>
          </a:r>
          <a:r>
            <a:rPr lang="en-US" sz="1600" b="1" kern="1200" smtClean="0"/>
            <a:t>digital banking campaigns</a:t>
          </a:r>
          <a:r>
            <a:rPr lang="en-US" sz="1600" kern="1200" smtClean="0"/>
            <a:t> to reduce branch load.</a:t>
          </a:r>
          <a:endParaRPr lang="en-US" sz="1600" kern="1200"/>
        </a:p>
      </dsp:txBody>
      <dsp:txXfrm>
        <a:off x="20104" y="1404772"/>
        <a:ext cx="11732691" cy="37163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8D4FF2-5232-4D09-BCB3-013163CC1EAC}">
      <dsp:nvSpPr>
        <dsp:cNvPr id="0" name=""/>
        <dsp:cNvSpPr/>
      </dsp:nvSpPr>
      <dsp:spPr>
        <a:xfrm>
          <a:off x="0" y="8631"/>
          <a:ext cx="11790485"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smtClean="0"/>
            <a:t>📈 Insights:</a:t>
          </a:r>
          <a:endParaRPr lang="en-US" sz="1600" kern="1200"/>
        </a:p>
      </dsp:txBody>
      <dsp:txXfrm>
        <a:off x="20104" y="28735"/>
        <a:ext cx="11750277" cy="371632"/>
      </dsp:txXfrm>
    </dsp:sp>
    <dsp:sp modelId="{E5A85B93-1B2B-4BEA-A6F6-8F203AAB23C0}">
      <dsp:nvSpPr>
        <dsp:cNvPr id="0" name=""/>
        <dsp:cNvSpPr/>
      </dsp:nvSpPr>
      <dsp:spPr>
        <a:xfrm>
          <a:off x="0" y="466552"/>
          <a:ext cx="11790485"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Top 5 accounts contribute very high debit volume </a:t>
          </a:r>
          <a:r>
            <a:rPr lang="en-US" sz="1600" kern="1200" dirty="0" smtClean="0"/>
            <a:t>(₹</a:t>
          </a:r>
          <a:r>
            <a:rPr lang="en-US" sz="1600" kern="1200" dirty="0" smtClean="0"/>
            <a:t>380K total).</a:t>
          </a:r>
          <a:endParaRPr lang="en-US" sz="1600" kern="1200" dirty="0"/>
        </a:p>
      </dsp:txBody>
      <dsp:txXfrm>
        <a:off x="20104" y="486656"/>
        <a:ext cx="11750277" cy="371632"/>
      </dsp:txXfrm>
    </dsp:sp>
    <dsp:sp modelId="{9949508E-46EA-4BD7-81DA-21928E3E02B2}">
      <dsp:nvSpPr>
        <dsp:cNvPr id="0" name=""/>
        <dsp:cNvSpPr/>
      </dsp:nvSpPr>
      <dsp:spPr>
        <a:xfrm>
          <a:off x="0" y="924472"/>
          <a:ext cx="11790485"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These accounts are likely business or high-income clients.</a:t>
          </a:r>
          <a:endParaRPr lang="en-US" sz="1600" kern="1200"/>
        </a:p>
      </dsp:txBody>
      <dsp:txXfrm>
        <a:off x="20104" y="944576"/>
        <a:ext cx="11750277" cy="371632"/>
      </dsp:txXfrm>
    </dsp:sp>
    <dsp:sp modelId="{00636ECC-FC31-4962-94EF-B08721948139}">
      <dsp:nvSpPr>
        <dsp:cNvPr id="0" name=""/>
        <dsp:cNvSpPr/>
      </dsp:nvSpPr>
      <dsp:spPr>
        <a:xfrm>
          <a:off x="0" y="1382392"/>
          <a:ext cx="11790485" cy="41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We can Assign </a:t>
          </a:r>
          <a:r>
            <a:rPr lang="en-US" sz="1600" b="1" kern="1200" smtClean="0"/>
            <a:t>relationship managers</a:t>
          </a:r>
          <a:r>
            <a:rPr lang="en-US" sz="1600" kern="1200" smtClean="0"/>
            <a:t> to these accounts </a:t>
          </a:r>
          <a:endParaRPr lang="en-US" sz="1600" kern="1200"/>
        </a:p>
      </dsp:txBody>
      <dsp:txXfrm>
        <a:off x="20104" y="1402496"/>
        <a:ext cx="11750277" cy="37163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28008E-5759-4BCE-AB3A-12DD5D72BDAD}">
      <dsp:nvSpPr>
        <dsp:cNvPr id="0" name=""/>
        <dsp:cNvSpPr/>
      </dsp:nvSpPr>
      <dsp:spPr>
        <a:xfrm>
          <a:off x="0" y="20042"/>
          <a:ext cx="11790485" cy="3861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b="1" kern="1200" smtClean="0"/>
            <a:t>📈 Insights:</a:t>
          </a:r>
          <a:endParaRPr lang="en-US" sz="1500" b="1" kern="1200"/>
        </a:p>
      </dsp:txBody>
      <dsp:txXfrm>
        <a:off x="18848" y="38890"/>
        <a:ext cx="11752789" cy="348404"/>
      </dsp:txXfrm>
    </dsp:sp>
    <dsp:sp modelId="{CA6C19C1-CAA8-43DB-B33C-27A4A33C8547}">
      <dsp:nvSpPr>
        <dsp:cNvPr id="0" name=""/>
        <dsp:cNvSpPr/>
      </dsp:nvSpPr>
      <dsp:spPr>
        <a:xfrm>
          <a:off x="0" y="449342"/>
          <a:ext cx="11790485" cy="3861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smtClean="0"/>
            <a:t>Seasonal Peaks (Dec–Jan) → Likely due to festive season spending &amp; year-end bonuses.</a:t>
          </a:r>
          <a:endParaRPr lang="en-US" sz="1500" kern="1200"/>
        </a:p>
      </dsp:txBody>
      <dsp:txXfrm>
        <a:off x="18848" y="468190"/>
        <a:ext cx="11752789" cy="348404"/>
      </dsp:txXfrm>
    </dsp:sp>
    <dsp:sp modelId="{F9F222E4-4A68-4B0E-A0F1-E96221604F58}">
      <dsp:nvSpPr>
        <dsp:cNvPr id="0" name=""/>
        <dsp:cNvSpPr/>
      </dsp:nvSpPr>
      <dsp:spPr>
        <a:xfrm>
          <a:off x="0" y="878642"/>
          <a:ext cx="11790485" cy="3861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smtClean="0"/>
            <a:t>Plan </a:t>
          </a:r>
          <a:r>
            <a:rPr lang="en-US" sz="1500" b="1" kern="1200" smtClean="0"/>
            <a:t>campaigns during festive months (Nov–Jan)</a:t>
          </a:r>
          <a:r>
            <a:rPr lang="en-US" sz="1500" kern="1200" smtClean="0"/>
            <a:t> → maximize revenue</a:t>
          </a:r>
          <a:endParaRPr lang="en-US" sz="1500" kern="1200"/>
        </a:p>
      </dsp:txBody>
      <dsp:txXfrm>
        <a:off x="18848" y="897490"/>
        <a:ext cx="11752789" cy="348404"/>
      </dsp:txXfrm>
    </dsp:sp>
    <dsp:sp modelId="{29C511D1-3D44-41DC-9DB6-8B271AAAB4CA}">
      <dsp:nvSpPr>
        <dsp:cNvPr id="0" name=""/>
        <dsp:cNvSpPr/>
      </dsp:nvSpPr>
      <dsp:spPr>
        <a:xfrm>
          <a:off x="0" y="1307942"/>
          <a:ext cx="11790485" cy="3861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smtClean="0"/>
            <a:t>Investigate </a:t>
          </a:r>
          <a:r>
            <a:rPr lang="en-US" sz="1500" b="1" kern="1200" smtClean="0"/>
            <a:t>July 2025 slowdown</a:t>
          </a:r>
          <a:r>
            <a:rPr lang="en-US" sz="1500" kern="1200" smtClean="0"/>
            <a:t> → push targeted offers to boost activity.</a:t>
          </a:r>
          <a:endParaRPr lang="en-US" sz="1500" kern="1200"/>
        </a:p>
      </dsp:txBody>
      <dsp:txXfrm>
        <a:off x="18848" y="1326790"/>
        <a:ext cx="11752789" cy="34840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D29C6D-B721-4058-A88F-CD45E83496CF}">
      <dsp:nvSpPr>
        <dsp:cNvPr id="0" name=""/>
        <dsp:cNvSpPr/>
      </dsp:nvSpPr>
      <dsp:spPr>
        <a:xfrm>
          <a:off x="5658" y="180907"/>
          <a:ext cx="1754082" cy="12929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kern="1200" dirty="0" smtClean="0"/>
            <a:t>📈 Insights:</a:t>
          </a:r>
          <a:endParaRPr lang="en-US" sz="1800" kern="1200" dirty="0"/>
        </a:p>
      </dsp:txBody>
      <dsp:txXfrm>
        <a:off x="43527" y="218776"/>
        <a:ext cx="1678344" cy="1217212"/>
      </dsp:txXfrm>
    </dsp:sp>
    <dsp:sp modelId="{4FFFF7EF-FEAF-4C3D-940F-D21C7E13AEC8}">
      <dsp:nvSpPr>
        <dsp:cNvPr id="0" name=""/>
        <dsp:cNvSpPr/>
      </dsp:nvSpPr>
      <dsp:spPr>
        <a:xfrm>
          <a:off x="1935149" y="609876"/>
          <a:ext cx="371865" cy="4350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1935149" y="696878"/>
        <a:ext cx="260306" cy="261008"/>
      </dsp:txXfrm>
    </dsp:sp>
    <dsp:sp modelId="{2AE58567-F313-4EED-8440-CD443151AB97}">
      <dsp:nvSpPr>
        <dsp:cNvPr id="0" name=""/>
        <dsp:cNvSpPr/>
      </dsp:nvSpPr>
      <dsp:spPr>
        <a:xfrm>
          <a:off x="2461374" y="180907"/>
          <a:ext cx="1754082" cy="12929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rtl="0">
            <a:lnSpc>
              <a:spcPct val="90000"/>
            </a:lnSpc>
            <a:spcBef>
              <a:spcPct val="0"/>
            </a:spcBef>
            <a:spcAft>
              <a:spcPct val="35000"/>
            </a:spcAft>
          </a:pPr>
          <a:r>
            <a:rPr lang="en-US" sz="1300" b="1" kern="1200" dirty="0" smtClean="0"/>
            <a:t>High Activity in June–July 2025</a:t>
          </a:r>
          <a:r>
            <a:rPr lang="en-US" sz="1300" kern="1200" dirty="0" smtClean="0"/>
            <a:t> : Customers are active; recent transactions confirm strong engagement.</a:t>
          </a:r>
          <a:endParaRPr lang="en-US" sz="1300" kern="1200" dirty="0"/>
        </a:p>
      </dsp:txBody>
      <dsp:txXfrm>
        <a:off x="2499243" y="218776"/>
        <a:ext cx="1678344" cy="1217212"/>
      </dsp:txXfrm>
    </dsp:sp>
    <dsp:sp modelId="{DC5E5881-FC47-4D11-8F8E-EB75B468E25D}">
      <dsp:nvSpPr>
        <dsp:cNvPr id="0" name=""/>
        <dsp:cNvSpPr/>
      </dsp:nvSpPr>
      <dsp:spPr>
        <a:xfrm>
          <a:off x="4390864" y="609876"/>
          <a:ext cx="371865" cy="4350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4390864" y="696878"/>
        <a:ext cx="260306" cy="261008"/>
      </dsp:txXfrm>
    </dsp:sp>
    <dsp:sp modelId="{5833AFF2-E3A4-47A2-8EDE-31A3CFAFFFE4}">
      <dsp:nvSpPr>
        <dsp:cNvPr id="0" name=""/>
        <dsp:cNvSpPr/>
      </dsp:nvSpPr>
      <dsp:spPr>
        <a:xfrm>
          <a:off x="4917089" y="180907"/>
          <a:ext cx="1754082" cy="12929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rtl="0">
            <a:lnSpc>
              <a:spcPct val="90000"/>
            </a:lnSpc>
            <a:spcBef>
              <a:spcPct val="0"/>
            </a:spcBef>
            <a:spcAft>
              <a:spcPct val="35000"/>
            </a:spcAft>
          </a:pPr>
          <a:r>
            <a:rPr lang="en-US" sz="1300" b="1" kern="1200" dirty="0" smtClean="0"/>
            <a:t>Multi-account customers (CUST0099, CUST0048)</a:t>
          </a:r>
          <a:r>
            <a:rPr lang="en-US" sz="1300" kern="1200" dirty="0" smtClean="0"/>
            <a:t> show </a:t>
          </a:r>
          <a:r>
            <a:rPr lang="en-US" sz="1300" b="1" kern="1200" dirty="0" smtClean="0"/>
            <a:t>regular activity across accounts</a:t>
          </a:r>
          <a:r>
            <a:rPr lang="en-US" sz="1300" kern="1200" dirty="0" smtClean="0"/>
            <a:t>, suggesting high-value profiles.</a:t>
          </a:r>
          <a:endParaRPr lang="en-US" sz="1300" kern="1200" dirty="0"/>
        </a:p>
      </dsp:txBody>
      <dsp:txXfrm>
        <a:off x="4954958" y="218776"/>
        <a:ext cx="1678344" cy="1217212"/>
      </dsp:txXfrm>
    </dsp:sp>
    <dsp:sp modelId="{DF3E53E5-BC6D-4153-9292-D07845A5F4D5}">
      <dsp:nvSpPr>
        <dsp:cNvPr id="0" name=""/>
        <dsp:cNvSpPr/>
      </dsp:nvSpPr>
      <dsp:spPr>
        <a:xfrm>
          <a:off x="6846580" y="609876"/>
          <a:ext cx="371865" cy="4350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6846580" y="696878"/>
        <a:ext cx="260306" cy="261008"/>
      </dsp:txXfrm>
    </dsp:sp>
    <dsp:sp modelId="{D3C6C2A4-420C-4E5B-8D91-CE815161CFC5}">
      <dsp:nvSpPr>
        <dsp:cNvPr id="0" name=""/>
        <dsp:cNvSpPr/>
      </dsp:nvSpPr>
      <dsp:spPr>
        <a:xfrm>
          <a:off x="7372805" y="180907"/>
          <a:ext cx="1754082" cy="12929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en-US" sz="1400" kern="1200" dirty="0" smtClean="0"/>
            <a:t>Flag accounts with </a:t>
          </a:r>
          <a:r>
            <a:rPr lang="en-US" sz="1400" b="1" kern="1200" dirty="0" smtClean="0"/>
            <a:t>&gt;60 days inactivity</a:t>
          </a:r>
          <a:r>
            <a:rPr lang="en-US" sz="1400" kern="1200" dirty="0" smtClean="0"/>
            <a:t> for </a:t>
          </a:r>
          <a:r>
            <a:rPr lang="en-US" sz="1400" b="1" kern="1200" dirty="0" smtClean="0"/>
            <a:t>re-engagement campaigns</a:t>
          </a:r>
          <a:endParaRPr lang="en-US" sz="1400" kern="1200" dirty="0"/>
        </a:p>
      </dsp:txBody>
      <dsp:txXfrm>
        <a:off x="7410674" y="218776"/>
        <a:ext cx="1678344" cy="1217212"/>
      </dsp:txXfrm>
    </dsp:sp>
    <dsp:sp modelId="{2470A1E7-0617-453D-B66D-BEEE54787775}">
      <dsp:nvSpPr>
        <dsp:cNvPr id="0" name=""/>
        <dsp:cNvSpPr/>
      </dsp:nvSpPr>
      <dsp:spPr>
        <a:xfrm>
          <a:off x="9302296" y="609876"/>
          <a:ext cx="371865" cy="4350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US" sz="1100" kern="1200"/>
        </a:p>
      </dsp:txBody>
      <dsp:txXfrm>
        <a:off x="9302296" y="696878"/>
        <a:ext cx="260306" cy="261008"/>
      </dsp:txXfrm>
    </dsp:sp>
    <dsp:sp modelId="{F225EF71-5C3C-4017-B6F1-75B66AC9BE6C}">
      <dsp:nvSpPr>
        <dsp:cNvPr id="0" name=""/>
        <dsp:cNvSpPr/>
      </dsp:nvSpPr>
      <dsp:spPr>
        <a:xfrm>
          <a:off x="9828521" y="180907"/>
          <a:ext cx="1754082" cy="12929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US" sz="1600" kern="1200" dirty="0" smtClean="0"/>
            <a:t>Prioritize </a:t>
          </a:r>
          <a:r>
            <a:rPr lang="en-US" sz="1600" b="1" kern="1200" dirty="0" smtClean="0"/>
            <a:t>multi-account active users</a:t>
          </a:r>
          <a:r>
            <a:rPr lang="en-US" sz="1600" kern="1200" dirty="0" smtClean="0"/>
            <a:t> for loyalty offers.</a:t>
          </a:r>
          <a:endParaRPr lang="en-US" sz="1600" kern="1200" dirty="0"/>
        </a:p>
      </dsp:txBody>
      <dsp:txXfrm>
        <a:off x="9866390" y="218776"/>
        <a:ext cx="1678344" cy="121721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D1E9E2-B270-4496-94A9-099476C9F104}">
      <dsp:nvSpPr>
        <dsp:cNvPr id="0" name=""/>
        <dsp:cNvSpPr/>
      </dsp:nvSpPr>
      <dsp:spPr>
        <a:xfrm>
          <a:off x="14577" y="49229"/>
          <a:ext cx="1794008" cy="16818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ct val="35000"/>
            </a:spcAft>
          </a:pPr>
          <a:r>
            <a:rPr lang="en-US" sz="1800" b="0" kern="1200" dirty="0" smtClean="0">
              <a:solidFill>
                <a:schemeClr val="bg1"/>
              </a:solidFill>
            </a:rPr>
            <a:t>📈 Insights</a:t>
          </a:r>
          <a:r>
            <a:rPr lang="en-US" sz="1800" b="1" kern="1200" dirty="0" smtClean="0">
              <a:solidFill>
                <a:schemeClr val="bg1"/>
              </a:solidFill>
            </a:rPr>
            <a:t>:</a:t>
          </a:r>
          <a:endParaRPr lang="en-US" sz="1800" kern="1200" dirty="0">
            <a:solidFill>
              <a:schemeClr val="bg1"/>
            </a:solidFill>
          </a:endParaRPr>
        </a:p>
      </dsp:txBody>
      <dsp:txXfrm>
        <a:off x="63838" y="98490"/>
        <a:ext cx="1695486" cy="1583361"/>
      </dsp:txXfrm>
    </dsp:sp>
    <dsp:sp modelId="{74A3C724-0B21-4071-9C7B-0F26F6436E89}">
      <dsp:nvSpPr>
        <dsp:cNvPr id="0" name=""/>
        <dsp:cNvSpPr/>
      </dsp:nvSpPr>
      <dsp:spPr>
        <a:xfrm rot="21566191">
          <a:off x="1985780" y="655302"/>
          <a:ext cx="375688" cy="4449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solidFill>
              <a:schemeClr val="bg1"/>
            </a:solidFill>
          </a:endParaRPr>
        </a:p>
      </dsp:txBody>
      <dsp:txXfrm>
        <a:off x="1985783" y="744839"/>
        <a:ext cx="262982" cy="266948"/>
      </dsp:txXfrm>
    </dsp:sp>
    <dsp:sp modelId="{85196F91-6468-483B-BEDD-E83A7A4B67C4}">
      <dsp:nvSpPr>
        <dsp:cNvPr id="0" name=""/>
        <dsp:cNvSpPr/>
      </dsp:nvSpPr>
      <dsp:spPr>
        <a:xfrm>
          <a:off x="2517399" y="24614"/>
          <a:ext cx="1794008" cy="16818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dirty="0" smtClean="0">
              <a:solidFill>
                <a:schemeClr val="bg1"/>
              </a:solidFill>
            </a:rPr>
            <a:t>Youngest group (18–25) spends the most (₹2582):</a:t>
          </a:r>
          <a:br>
            <a:rPr lang="en-US" sz="1500" b="1" kern="1200" dirty="0" smtClean="0">
              <a:solidFill>
                <a:schemeClr val="bg1"/>
              </a:solidFill>
            </a:rPr>
          </a:br>
          <a:r>
            <a:rPr lang="en-US" sz="1500" kern="1200" dirty="0" smtClean="0">
              <a:solidFill>
                <a:schemeClr val="bg1"/>
              </a:solidFill>
            </a:rPr>
            <a:t>Indicates </a:t>
          </a:r>
          <a:r>
            <a:rPr lang="en-US" sz="1500" b="1" kern="1200" dirty="0" smtClean="0">
              <a:solidFill>
                <a:schemeClr val="bg1"/>
              </a:solidFill>
            </a:rPr>
            <a:t>higher adoption of digital/payment channels</a:t>
          </a:r>
          <a:r>
            <a:rPr lang="en-US" sz="1500" kern="1200" dirty="0" smtClean="0">
              <a:solidFill>
                <a:schemeClr val="bg1"/>
              </a:solidFill>
            </a:rPr>
            <a:t>.</a:t>
          </a:r>
          <a:endParaRPr lang="en-US" sz="1500" kern="1200" dirty="0">
            <a:solidFill>
              <a:schemeClr val="bg1"/>
            </a:solidFill>
          </a:endParaRPr>
        </a:p>
      </dsp:txBody>
      <dsp:txXfrm>
        <a:off x="2566660" y="73875"/>
        <a:ext cx="1695486" cy="1583361"/>
      </dsp:txXfrm>
    </dsp:sp>
    <dsp:sp modelId="{CB02099C-02A4-4691-8681-1EE854144D78}">
      <dsp:nvSpPr>
        <dsp:cNvPr id="0" name=""/>
        <dsp:cNvSpPr/>
      </dsp:nvSpPr>
      <dsp:spPr>
        <a:xfrm>
          <a:off x="4490808" y="643099"/>
          <a:ext cx="380329" cy="4449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solidFill>
              <a:schemeClr val="bg1"/>
            </a:solidFill>
          </a:endParaRPr>
        </a:p>
      </dsp:txBody>
      <dsp:txXfrm>
        <a:off x="4490808" y="732082"/>
        <a:ext cx="266230" cy="266948"/>
      </dsp:txXfrm>
    </dsp:sp>
    <dsp:sp modelId="{5616F615-F7FF-4685-831A-4BF66B497289}">
      <dsp:nvSpPr>
        <dsp:cNvPr id="0" name=""/>
        <dsp:cNvSpPr/>
      </dsp:nvSpPr>
      <dsp:spPr>
        <a:xfrm>
          <a:off x="5029011" y="24614"/>
          <a:ext cx="1794008" cy="16818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kern="1200" smtClean="0">
              <a:solidFill>
                <a:schemeClr val="bg1"/>
              </a:solidFill>
            </a:rPr>
            <a:t>Target </a:t>
          </a:r>
          <a:r>
            <a:rPr lang="en-US" sz="1500" b="1" kern="1200" smtClean="0">
              <a:solidFill>
                <a:schemeClr val="bg1"/>
              </a:solidFill>
            </a:rPr>
            <a:t>18–25 group</a:t>
          </a:r>
          <a:r>
            <a:rPr lang="en-US" sz="1500" kern="1200" smtClean="0">
              <a:solidFill>
                <a:schemeClr val="bg1"/>
              </a:solidFill>
            </a:rPr>
            <a:t> with </a:t>
          </a:r>
          <a:r>
            <a:rPr lang="en-US" sz="1500" b="1" kern="1200" smtClean="0">
              <a:solidFill>
                <a:schemeClr val="bg1"/>
              </a:solidFill>
            </a:rPr>
            <a:t>youth-oriented financial products (UPI, credit cards, micro-investments)</a:t>
          </a:r>
          <a:r>
            <a:rPr lang="en-US" sz="1500" kern="1200" smtClean="0">
              <a:solidFill>
                <a:schemeClr val="bg1"/>
              </a:solidFill>
            </a:rPr>
            <a:t>.</a:t>
          </a:r>
          <a:endParaRPr lang="en-US" sz="1500" kern="1200">
            <a:solidFill>
              <a:schemeClr val="bg1"/>
            </a:solidFill>
          </a:endParaRPr>
        </a:p>
      </dsp:txBody>
      <dsp:txXfrm>
        <a:off x="5078272" y="73875"/>
        <a:ext cx="1695486" cy="1583361"/>
      </dsp:txXfrm>
    </dsp:sp>
    <dsp:sp modelId="{A890CB49-AC38-40FE-8538-6C7EE742DFB1}">
      <dsp:nvSpPr>
        <dsp:cNvPr id="0" name=""/>
        <dsp:cNvSpPr/>
      </dsp:nvSpPr>
      <dsp:spPr>
        <a:xfrm>
          <a:off x="7002420" y="643099"/>
          <a:ext cx="380329" cy="4449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solidFill>
              <a:schemeClr val="bg1"/>
            </a:solidFill>
          </a:endParaRPr>
        </a:p>
      </dsp:txBody>
      <dsp:txXfrm>
        <a:off x="7002420" y="732082"/>
        <a:ext cx="266230" cy="266948"/>
      </dsp:txXfrm>
    </dsp:sp>
    <dsp:sp modelId="{32BEA6FF-6872-4002-B3E3-1440386F06BC}">
      <dsp:nvSpPr>
        <dsp:cNvPr id="0" name=""/>
        <dsp:cNvSpPr/>
      </dsp:nvSpPr>
      <dsp:spPr>
        <a:xfrm>
          <a:off x="7540623" y="24614"/>
          <a:ext cx="1794008" cy="16818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dirty="0" smtClean="0">
              <a:solidFill>
                <a:schemeClr val="bg1"/>
              </a:solidFill>
            </a:rPr>
            <a:t>41–60 group spends least (~₹2442):</a:t>
          </a:r>
          <a:r>
            <a:rPr lang="en-US" sz="1500" kern="1200" dirty="0" smtClean="0">
              <a:solidFill>
                <a:schemeClr val="bg1"/>
              </a:solidFill>
            </a:rPr>
            <a:t> Possibly more cautious or diversified spending habits.</a:t>
          </a:r>
          <a:endParaRPr lang="en-US" sz="1500" kern="1200" dirty="0">
            <a:solidFill>
              <a:schemeClr val="bg1"/>
            </a:solidFill>
          </a:endParaRPr>
        </a:p>
      </dsp:txBody>
      <dsp:txXfrm>
        <a:off x="7589884" y="73875"/>
        <a:ext cx="1695486" cy="1583361"/>
      </dsp:txXfrm>
    </dsp:sp>
    <dsp:sp modelId="{72304741-BD4D-4904-82EF-3AB85BE63CA4}">
      <dsp:nvSpPr>
        <dsp:cNvPr id="0" name=""/>
        <dsp:cNvSpPr/>
      </dsp:nvSpPr>
      <dsp:spPr>
        <a:xfrm>
          <a:off x="9514032" y="643099"/>
          <a:ext cx="380329" cy="4449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a:lnSpc>
              <a:spcPct val="90000"/>
            </a:lnSpc>
            <a:spcBef>
              <a:spcPct val="0"/>
            </a:spcBef>
            <a:spcAft>
              <a:spcPct val="35000"/>
            </a:spcAft>
          </a:pPr>
          <a:endParaRPr lang="en-US" sz="1200" kern="1200">
            <a:solidFill>
              <a:schemeClr val="bg1"/>
            </a:solidFill>
          </a:endParaRPr>
        </a:p>
      </dsp:txBody>
      <dsp:txXfrm>
        <a:off x="9514032" y="732082"/>
        <a:ext cx="266230" cy="266948"/>
      </dsp:txXfrm>
    </dsp:sp>
    <dsp:sp modelId="{9C69E686-4AEC-437C-981A-449E64A49EF8}">
      <dsp:nvSpPr>
        <dsp:cNvPr id="0" name=""/>
        <dsp:cNvSpPr/>
      </dsp:nvSpPr>
      <dsp:spPr>
        <a:xfrm>
          <a:off x="10052235" y="24614"/>
          <a:ext cx="1794008" cy="16818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0">
            <a:lnSpc>
              <a:spcPct val="90000"/>
            </a:lnSpc>
            <a:spcBef>
              <a:spcPct val="0"/>
            </a:spcBef>
            <a:spcAft>
              <a:spcPct val="35000"/>
            </a:spcAft>
          </a:pPr>
          <a:r>
            <a:rPr lang="en-US" sz="1600" kern="1200" dirty="0" smtClean="0">
              <a:solidFill>
                <a:schemeClr val="bg1"/>
              </a:solidFill>
            </a:rPr>
            <a:t>Retain </a:t>
          </a:r>
          <a:r>
            <a:rPr lang="en-US" sz="1600" b="1" kern="1200" dirty="0" smtClean="0">
              <a:solidFill>
                <a:schemeClr val="bg1"/>
              </a:solidFill>
            </a:rPr>
            <a:t>41–60 group</a:t>
          </a:r>
          <a:r>
            <a:rPr lang="en-US" sz="1600" kern="1200" dirty="0" smtClean="0">
              <a:solidFill>
                <a:schemeClr val="bg1"/>
              </a:solidFill>
            </a:rPr>
            <a:t> with </a:t>
          </a:r>
          <a:r>
            <a:rPr lang="en-US" sz="1600" b="1" kern="1200" dirty="0" smtClean="0">
              <a:solidFill>
                <a:schemeClr val="bg1"/>
              </a:solidFill>
            </a:rPr>
            <a:t>wealth products (mutual funds, insurance, retirement)</a:t>
          </a:r>
          <a:r>
            <a:rPr lang="en-US" sz="1600" kern="1200" dirty="0" smtClean="0">
              <a:solidFill>
                <a:schemeClr val="bg1"/>
              </a:solidFill>
            </a:rPr>
            <a:t>.</a:t>
          </a:r>
          <a:endParaRPr lang="en-US" sz="1600" kern="1200" dirty="0">
            <a:solidFill>
              <a:schemeClr val="bg1"/>
            </a:solidFill>
          </a:endParaRPr>
        </a:p>
      </dsp:txBody>
      <dsp:txXfrm>
        <a:off x="10101496" y="73875"/>
        <a:ext cx="1695486" cy="158336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1CBB79-0829-4E51-A651-DCA7ADF12D2F}">
      <dsp:nvSpPr>
        <dsp:cNvPr id="0" name=""/>
        <dsp:cNvSpPr/>
      </dsp:nvSpPr>
      <dsp:spPr>
        <a:xfrm>
          <a:off x="0" y="56262"/>
          <a:ext cx="4818186" cy="3276000"/>
        </a:xfrm>
        <a:prstGeom prst="roundRect">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This ER diagram represents the relational structure of the database, highlighting three tables – customers, accounts and transactions. It shows how customers can have multiple accounts, and each account can record multiple transactions. This design ensures data integrity and allows efficient analysis of customer behavior, account balances, and transaction patterns</a:t>
          </a:r>
          <a:endParaRPr lang="en-US" sz="2000" kern="1200" dirty="0"/>
        </a:p>
      </dsp:txBody>
      <dsp:txXfrm>
        <a:off x="159921" y="216183"/>
        <a:ext cx="4498344" cy="295615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3958667-857F-465F-94C9-5B288815B060}"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7C32E0-D6E5-4CD0-8212-C507FECCE6DB}" type="slidenum">
              <a:rPr lang="en-US" smtClean="0"/>
              <a:t>‹#›</a:t>
            </a:fld>
            <a:endParaRPr lang="en-US"/>
          </a:p>
        </p:txBody>
      </p:sp>
    </p:spTree>
    <p:extLst>
      <p:ext uri="{BB962C8B-B14F-4D97-AF65-F5344CB8AC3E}">
        <p14:creationId xmlns:p14="http://schemas.microsoft.com/office/powerpoint/2010/main" val="131234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958667-857F-465F-94C9-5B288815B060}"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7C32E0-D6E5-4CD0-8212-C507FECCE6DB}" type="slidenum">
              <a:rPr lang="en-US" smtClean="0"/>
              <a:t>‹#›</a:t>
            </a:fld>
            <a:endParaRPr lang="en-US"/>
          </a:p>
        </p:txBody>
      </p:sp>
    </p:spTree>
    <p:extLst>
      <p:ext uri="{BB962C8B-B14F-4D97-AF65-F5344CB8AC3E}">
        <p14:creationId xmlns:p14="http://schemas.microsoft.com/office/powerpoint/2010/main" val="881925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3958667-857F-465F-94C9-5B288815B060}"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7C32E0-D6E5-4CD0-8212-C507FECCE6DB}" type="slidenum">
              <a:rPr lang="en-US" smtClean="0"/>
              <a:t>‹#›</a:t>
            </a:fld>
            <a:endParaRPr lang="en-US"/>
          </a:p>
        </p:txBody>
      </p:sp>
    </p:spTree>
    <p:extLst>
      <p:ext uri="{BB962C8B-B14F-4D97-AF65-F5344CB8AC3E}">
        <p14:creationId xmlns:p14="http://schemas.microsoft.com/office/powerpoint/2010/main" val="111883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3958667-857F-465F-94C9-5B288815B060}"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7C32E0-D6E5-4CD0-8212-C507FECCE6DB}" type="slidenum">
              <a:rPr lang="en-US" smtClean="0"/>
              <a:t>‹#›</a:t>
            </a:fld>
            <a:endParaRPr lang="en-US"/>
          </a:p>
        </p:txBody>
      </p:sp>
    </p:spTree>
    <p:extLst>
      <p:ext uri="{BB962C8B-B14F-4D97-AF65-F5344CB8AC3E}">
        <p14:creationId xmlns:p14="http://schemas.microsoft.com/office/powerpoint/2010/main" val="870900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3958667-857F-465F-94C9-5B288815B060}" type="datetimeFigureOut">
              <a:rPr lang="en-US" smtClean="0"/>
              <a:t>9/2/2025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7C32E0-D6E5-4CD0-8212-C507FECCE6DB}" type="slidenum">
              <a:rPr lang="en-US" smtClean="0"/>
              <a:t>‹#›</a:t>
            </a:fld>
            <a:endParaRPr lang="en-US"/>
          </a:p>
        </p:txBody>
      </p:sp>
    </p:spTree>
    <p:extLst>
      <p:ext uri="{BB962C8B-B14F-4D97-AF65-F5344CB8AC3E}">
        <p14:creationId xmlns:p14="http://schemas.microsoft.com/office/powerpoint/2010/main" val="620338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3958667-857F-465F-94C9-5B288815B060}" type="datetimeFigureOut">
              <a:rPr lang="en-US" smtClean="0"/>
              <a:t>9/2/2025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7C32E0-D6E5-4CD0-8212-C507FECCE6DB}" type="slidenum">
              <a:rPr lang="en-US" smtClean="0"/>
              <a:t>‹#›</a:t>
            </a:fld>
            <a:endParaRPr lang="en-US"/>
          </a:p>
        </p:txBody>
      </p:sp>
    </p:spTree>
    <p:extLst>
      <p:ext uri="{BB962C8B-B14F-4D97-AF65-F5344CB8AC3E}">
        <p14:creationId xmlns:p14="http://schemas.microsoft.com/office/powerpoint/2010/main" val="1931670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958667-857F-465F-94C9-5B288815B060}" type="datetimeFigureOut">
              <a:rPr lang="en-US" smtClean="0"/>
              <a:t>9/2/2025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7C32E0-D6E5-4CD0-8212-C507FECCE6DB}" type="slidenum">
              <a:rPr lang="en-US" smtClean="0"/>
              <a:t>‹#›</a:t>
            </a:fld>
            <a:endParaRPr lang="en-US"/>
          </a:p>
        </p:txBody>
      </p:sp>
    </p:spTree>
    <p:extLst>
      <p:ext uri="{BB962C8B-B14F-4D97-AF65-F5344CB8AC3E}">
        <p14:creationId xmlns:p14="http://schemas.microsoft.com/office/powerpoint/2010/main" val="2133408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3958667-857F-465F-94C9-5B288815B060}"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7C32E0-D6E5-4CD0-8212-C507FECCE6DB}" type="slidenum">
              <a:rPr lang="en-US" smtClean="0"/>
              <a:t>‹#›</a:t>
            </a:fld>
            <a:endParaRPr lang="en-US"/>
          </a:p>
        </p:txBody>
      </p:sp>
    </p:spTree>
    <p:extLst>
      <p:ext uri="{BB962C8B-B14F-4D97-AF65-F5344CB8AC3E}">
        <p14:creationId xmlns:p14="http://schemas.microsoft.com/office/powerpoint/2010/main" val="1137554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3958667-857F-465F-94C9-5B288815B060}" type="datetimeFigureOut">
              <a:rPr lang="en-US" smtClean="0"/>
              <a:t>9/2/2025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7C32E0-D6E5-4CD0-8212-C507FECCE6DB}" type="slidenum">
              <a:rPr lang="en-US" smtClean="0"/>
              <a:t>‹#›</a:t>
            </a:fld>
            <a:endParaRPr lang="en-US"/>
          </a:p>
        </p:txBody>
      </p:sp>
    </p:spTree>
    <p:extLst>
      <p:ext uri="{BB962C8B-B14F-4D97-AF65-F5344CB8AC3E}">
        <p14:creationId xmlns:p14="http://schemas.microsoft.com/office/powerpoint/2010/main" val="4227756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958667-857F-465F-94C9-5B288815B060}"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7C32E0-D6E5-4CD0-8212-C507FECCE6DB}" type="slidenum">
              <a:rPr lang="en-US" smtClean="0"/>
              <a:t>‹#›</a:t>
            </a:fld>
            <a:endParaRPr lang="en-US"/>
          </a:p>
        </p:txBody>
      </p:sp>
    </p:spTree>
    <p:extLst>
      <p:ext uri="{BB962C8B-B14F-4D97-AF65-F5344CB8AC3E}">
        <p14:creationId xmlns:p14="http://schemas.microsoft.com/office/powerpoint/2010/main" val="3900315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958667-857F-465F-94C9-5B288815B060}" type="datetimeFigureOut">
              <a:rPr lang="en-US" smtClean="0"/>
              <a:t>9/2/2025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7C32E0-D6E5-4CD0-8212-C507FECCE6DB}" type="slidenum">
              <a:rPr lang="en-US" smtClean="0"/>
              <a:t>‹#›</a:t>
            </a:fld>
            <a:endParaRPr lang="en-US"/>
          </a:p>
        </p:txBody>
      </p:sp>
    </p:spTree>
    <p:extLst>
      <p:ext uri="{BB962C8B-B14F-4D97-AF65-F5344CB8AC3E}">
        <p14:creationId xmlns:p14="http://schemas.microsoft.com/office/powerpoint/2010/main" val="2868099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958667-857F-465F-94C9-5B288815B060}" type="datetimeFigureOut">
              <a:rPr lang="en-US" smtClean="0"/>
              <a:t>9/2/2025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7C32E0-D6E5-4CD0-8212-C507FECCE6DB}" type="slidenum">
              <a:rPr lang="en-US" smtClean="0"/>
              <a:t>‹#›</a:t>
            </a:fld>
            <a:endParaRPr lang="en-US"/>
          </a:p>
        </p:txBody>
      </p:sp>
    </p:spTree>
    <p:extLst>
      <p:ext uri="{BB962C8B-B14F-4D97-AF65-F5344CB8AC3E}">
        <p14:creationId xmlns:p14="http://schemas.microsoft.com/office/powerpoint/2010/main" val="18558669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36" y="35170"/>
            <a:ext cx="12145464" cy="6787661"/>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3384367094"/>
              </p:ext>
            </p:extLst>
          </p:nvPr>
        </p:nvGraphicFramePr>
        <p:xfrm>
          <a:off x="0" y="0"/>
          <a:ext cx="12192000" cy="6822831"/>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635181263"/>
                    </a:ext>
                  </a:extLst>
                </a:gridCol>
                <a:gridCol w="2025374">
                  <a:extLst>
                    <a:ext uri="{9D8B030D-6E8A-4147-A177-3AD203B41FA5}">
                      <a16:colId xmlns:a16="http://schemas.microsoft.com/office/drawing/2014/main" val="1550414746"/>
                    </a:ext>
                  </a:extLst>
                </a:gridCol>
                <a:gridCol w="2038626">
                  <a:extLst>
                    <a:ext uri="{9D8B030D-6E8A-4147-A177-3AD203B41FA5}">
                      <a16:colId xmlns:a16="http://schemas.microsoft.com/office/drawing/2014/main" val="3823826819"/>
                    </a:ext>
                  </a:extLst>
                </a:gridCol>
                <a:gridCol w="2032000">
                  <a:extLst>
                    <a:ext uri="{9D8B030D-6E8A-4147-A177-3AD203B41FA5}">
                      <a16:colId xmlns:a16="http://schemas.microsoft.com/office/drawing/2014/main" val="3747591838"/>
                    </a:ext>
                  </a:extLst>
                </a:gridCol>
                <a:gridCol w="2032000">
                  <a:extLst>
                    <a:ext uri="{9D8B030D-6E8A-4147-A177-3AD203B41FA5}">
                      <a16:colId xmlns:a16="http://schemas.microsoft.com/office/drawing/2014/main" val="2369297650"/>
                    </a:ext>
                  </a:extLst>
                </a:gridCol>
                <a:gridCol w="2032000">
                  <a:extLst>
                    <a:ext uri="{9D8B030D-6E8A-4147-A177-3AD203B41FA5}">
                      <a16:colId xmlns:a16="http://schemas.microsoft.com/office/drawing/2014/main" val="2038317432"/>
                    </a:ext>
                  </a:extLst>
                </a:gridCol>
              </a:tblGrid>
              <a:tr h="1473155">
                <a:tc>
                  <a:txBody>
                    <a:bodyPr/>
                    <a:lstStyle/>
                    <a:p>
                      <a:endParaRPr lang="en-US" u="sng" dirty="0"/>
                    </a:p>
                  </a:txBody>
                  <a:tcPr>
                    <a:lnL w="12700" cmpd="sng">
                      <a:noFill/>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solidFill>
                      <a:prstDash val="solid"/>
                      <a:round/>
                      <a:headEnd type="none" w="med" len="med"/>
                      <a:tailEnd type="none" w="med" len="med"/>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3573065"/>
                  </a:ext>
                </a:extLst>
              </a:tr>
              <a:tr h="1270171">
                <a:tc>
                  <a:txBody>
                    <a:bodyPr/>
                    <a:lstStyle/>
                    <a:p>
                      <a:endParaRPr lang="en-US"/>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7834345"/>
                  </a:ext>
                </a:extLst>
              </a:tr>
              <a:tr h="1133195">
                <a:tc>
                  <a:txBody>
                    <a:bodyPr/>
                    <a:lstStyle/>
                    <a:p>
                      <a:endParaRPr lang="en-US"/>
                    </a:p>
                  </a:txBody>
                  <a:tcP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5813780"/>
                  </a:ext>
                </a:extLst>
              </a:tr>
              <a:tr h="1473155">
                <a:tc>
                  <a:txBody>
                    <a:bodyPr/>
                    <a:lstStyle/>
                    <a:p>
                      <a:endParaRPr lang="en-US"/>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7892724"/>
                  </a:ext>
                </a:extLst>
              </a:tr>
              <a:tr h="1473155">
                <a:tc>
                  <a:txBody>
                    <a:bodyPr/>
                    <a:lstStyle/>
                    <a:p>
                      <a:endParaRPr lang="en-US"/>
                    </a:p>
                  </a:txBody>
                  <a:tcP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US"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solidFill>
                  </a:tcPr>
                </a:tc>
                <a:tc>
                  <a:txBody>
                    <a:bodyPr/>
                    <a:lstStyle/>
                    <a:p>
                      <a:endParaRPr lang="en-US" dirty="0"/>
                    </a:p>
                  </a:txBody>
                  <a:tcPr>
                    <a:lnL w="12700" cap="flat" cmpd="sng" algn="ctr">
                      <a:solidFill>
                        <a:schemeClr val="bg1"/>
                      </a:solid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759653355"/>
                  </a:ext>
                </a:extLst>
              </a:tr>
            </a:tbl>
          </a:graphicData>
        </a:graphic>
      </p:graphicFrame>
      <p:sp>
        <p:nvSpPr>
          <p:cNvPr id="2" name="Rectangle 1"/>
          <p:cNvSpPr/>
          <p:nvPr/>
        </p:nvSpPr>
        <p:spPr>
          <a:xfrm>
            <a:off x="2025160" y="2743203"/>
            <a:ext cx="8132886" cy="11342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3600" b="1" i="1" u="sng" dirty="0" smtClean="0">
                <a:latin typeface="Arial Narrow" panose="020B0606020202030204" pitchFamily="34" charset="0"/>
              </a:rPr>
              <a:t>Customer &amp; Banking</a:t>
            </a:r>
            <a:r>
              <a:rPr lang="en-US" sz="3600" b="1" i="1" u="sng" dirty="0">
                <a:latin typeface="Arial Narrow" panose="020B0606020202030204" pitchFamily="34" charset="0"/>
              </a:rPr>
              <a:t> </a:t>
            </a:r>
            <a:r>
              <a:rPr lang="en-US" sz="3600" b="1" i="1" u="sng" dirty="0" smtClean="0">
                <a:latin typeface="Arial Narrow" panose="020B0606020202030204" pitchFamily="34" charset="0"/>
              </a:rPr>
              <a:t>Transactions Analysis</a:t>
            </a:r>
          </a:p>
        </p:txBody>
      </p:sp>
      <p:sp>
        <p:nvSpPr>
          <p:cNvPr id="3" name="Rectangle 2"/>
          <p:cNvSpPr/>
          <p:nvPr/>
        </p:nvSpPr>
        <p:spPr>
          <a:xfrm>
            <a:off x="8132886" y="5354515"/>
            <a:ext cx="4059114" cy="1494693"/>
          </a:xfrm>
          <a:prstGeom prst="rect">
            <a:avLst/>
          </a:prstGeom>
          <a:solidFill>
            <a:schemeClr val="tx1"/>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u="sng" dirty="0" smtClean="0">
                <a:solidFill>
                  <a:schemeClr val="bg1"/>
                </a:solidFill>
                <a:latin typeface="Arial Narrow" panose="020B0606020202030204" pitchFamily="34" charset="0"/>
              </a:rPr>
              <a:t>Business Analyst Project Using SQL</a:t>
            </a:r>
            <a:r>
              <a:rPr lang="en-US" sz="2000" u="sng" dirty="0" smtClean="0">
                <a:solidFill>
                  <a:schemeClr val="bg1"/>
                </a:solidFill>
              </a:rPr>
              <a:t>  </a:t>
            </a:r>
          </a:p>
          <a:p>
            <a:pPr algn="ctr"/>
            <a:r>
              <a:rPr lang="en-US" sz="2000" dirty="0">
                <a:solidFill>
                  <a:schemeClr val="bg1"/>
                </a:solidFill>
              </a:rPr>
              <a:t> </a:t>
            </a:r>
            <a:r>
              <a:rPr lang="en-US" sz="2000" dirty="0" smtClean="0">
                <a:solidFill>
                  <a:schemeClr val="bg1"/>
                </a:solidFill>
              </a:rPr>
              <a:t>   -</a:t>
            </a:r>
            <a:r>
              <a:rPr lang="en-US" sz="2000" dirty="0" smtClean="0">
                <a:solidFill>
                  <a:schemeClr val="bg1"/>
                </a:solidFill>
                <a:latin typeface="Bahnschrift Light" panose="020B0502040204020203" pitchFamily="34" charset="0"/>
              </a:rPr>
              <a:t>By</a:t>
            </a:r>
            <a:r>
              <a:rPr lang="en-US" sz="2000" dirty="0">
                <a:solidFill>
                  <a:schemeClr val="bg1"/>
                </a:solidFill>
                <a:latin typeface="Bahnschrift Light" panose="020B0502040204020203" pitchFamily="34" charset="0"/>
              </a:rPr>
              <a:t> </a:t>
            </a:r>
            <a:r>
              <a:rPr lang="en-US" sz="2000" dirty="0" err="1" smtClean="0">
                <a:solidFill>
                  <a:schemeClr val="bg1"/>
                </a:solidFill>
                <a:latin typeface="Bahnschrift Light" panose="020B0502040204020203" pitchFamily="34" charset="0"/>
              </a:rPr>
              <a:t>Lakshya</a:t>
            </a:r>
            <a:r>
              <a:rPr lang="en-US" sz="2000" dirty="0" smtClean="0">
                <a:solidFill>
                  <a:schemeClr val="bg1"/>
                </a:solidFill>
                <a:latin typeface="Bahnschrift Light" panose="020B0502040204020203" pitchFamily="34" charset="0"/>
              </a:rPr>
              <a:t> </a:t>
            </a:r>
            <a:r>
              <a:rPr lang="en-US" sz="2000" dirty="0" err="1" smtClean="0">
                <a:solidFill>
                  <a:schemeClr val="bg1"/>
                </a:solidFill>
                <a:latin typeface="Bahnschrift Light" panose="020B0502040204020203" pitchFamily="34" charset="0"/>
              </a:rPr>
              <a:t>Doomra</a:t>
            </a:r>
            <a:endParaRPr lang="en-US" sz="2000" dirty="0">
              <a:solidFill>
                <a:schemeClr val="bg1"/>
              </a:solidFill>
              <a:latin typeface="Bahnschrift Light" panose="020B0502040204020203" pitchFamily="34" charset="0"/>
            </a:endParaRPr>
          </a:p>
        </p:txBody>
      </p:sp>
    </p:spTree>
    <p:extLst>
      <p:ext uri="{BB962C8B-B14F-4D97-AF65-F5344CB8AC3E}">
        <p14:creationId xmlns:p14="http://schemas.microsoft.com/office/powerpoint/2010/main" val="34423180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0844" y="145019"/>
            <a:ext cx="11236568" cy="615553"/>
          </a:xfrm>
          <a:prstGeom prst="rect">
            <a:avLst/>
          </a:prstGeom>
          <a:solidFill>
            <a:schemeClr val="tx1"/>
          </a:solidFill>
        </p:spPr>
        <p:txBody>
          <a:bodyPr wrap="square" rtlCol="0">
            <a:spAutoFit/>
          </a:bodyPr>
          <a:lstStyle/>
          <a:p>
            <a:r>
              <a:rPr lang="en-US" sz="3400" dirty="0">
                <a:solidFill>
                  <a:schemeClr val="bg1"/>
                </a:solidFill>
              </a:rPr>
              <a:t>1. Customers per region</a:t>
            </a:r>
          </a:p>
        </p:txBody>
      </p:sp>
      <p:sp>
        <p:nvSpPr>
          <p:cNvPr id="4" name="Rectangle 3"/>
          <p:cNvSpPr/>
          <p:nvPr/>
        </p:nvSpPr>
        <p:spPr>
          <a:xfrm>
            <a:off x="7964817" y="1176284"/>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SQL QUERY </a:t>
            </a:r>
            <a:endParaRPr lang="en-US" sz="2800" dirty="0">
              <a:solidFill>
                <a:schemeClr val="tx1"/>
              </a:solidFill>
            </a:endParaRPr>
          </a:p>
          <a:p>
            <a:pPr algn="ctr"/>
            <a:r>
              <a:rPr lang="en-US" sz="2800" dirty="0" smtClean="0">
                <a:solidFill>
                  <a:schemeClr val="tx1"/>
                </a:solidFill>
              </a:rPr>
              <a:t>(Input)</a:t>
            </a:r>
            <a:endParaRPr lang="en-US" sz="2800" dirty="0">
              <a:solidFill>
                <a:schemeClr val="tx1"/>
              </a:solidFill>
            </a:endParaRPr>
          </a:p>
        </p:txBody>
      </p:sp>
      <p:sp>
        <p:nvSpPr>
          <p:cNvPr id="5" name="Rectangle 4"/>
          <p:cNvSpPr/>
          <p:nvPr/>
        </p:nvSpPr>
        <p:spPr>
          <a:xfrm>
            <a:off x="7964817" y="3568236"/>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rPr>
              <a:t>OUTPUT</a:t>
            </a:r>
            <a:endParaRPr lang="en-US" sz="3600" dirty="0">
              <a:solidFill>
                <a:schemeClr val="tx1"/>
              </a:solidFill>
            </a:endParaRPr>
          </a:p>
        </p:txBody>
      </p:sp>
      <p:sp>
        <p:nvSpPr>
          <p:cNvPr id="6" name="Down Arrow 5"/>
          <p:cNvSpPr/>
          <p:nvPr/>
        </p:nvSpPr>
        <p:spPr>
          <a:xfrm>
            <a:off x="8493189" y="2456406"/>
            <a:ext cx="1273216" cy="7523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1021668" y="992788"/>
            <a:ext cx="4993632" cy="3599254"/>
          </a:xfrm>
          <a:prstGeom prst="rect">
            <a:avLst/>
          </a:prstGeom>
          <a:effectLst>
            <a:glow rad="127000">
              <a:schemeClr val="accent1">
                <a:alpha val="83000"/>
              </a:schemeClr>
            </a:glow>
          </a:effectLst>
        </p:spPr>
      </p:pic>
      <p:graphicFrame>
        <p:nvGraphicFramePr>
          <p:cNvPr id="13" name="Diagram 12"/>
          <p:cNvGraphicFramePr/>
          <p:nvPr>
            <p:extLst>
              <p:ext uri="{D42A27DB-BD31-4B8C-83A1-F6EECF244321}">
                <p14:modId xmlns:p14="http://schemas.microsoft.com/office/powerpoint/2010/main" val="1868650692"/>
              </p:ext>
            </p:extLst>
          </p:nvPr>
        </p:nvGraphicFramePr>
        <p:xfrm>
          <a:off x="169932" y="4675070"/>
          <a:ext cx="11936920" cy="20774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199742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8832" y="250937"/>
            <a:ext cx="10244452" cy="615553"/>
          </a:xfrm>
          <a:prstGeom prst="rect">
            <a:avLst/>
          </a:prstGeom>
        </p:spPr>
        <p:txBody>
          <a:bodyPr wrap="square">
            <a:spAutoFit/>
          </a:bodyPr>
          <a:lstStyle/>
          <a:p>
            <a:r>
              <a:rPr lang="en-US" sz="3400" dirty="0">
                <a:solidFill>
                  <a:schemeClr val="bg1"/>
                </a:solidFill>
              </a:rPr>
              <a:t>2. Average account balance by type</a:t>
            </a:r>
          </a:p>
        </p:txBody>
      </p:sp>
      <p:sp>
        <p:nvSpPr>
          <p:cNvPr id="4" name="Rectangle 3"/>
          <p:cNvSpPr/>
          <p:nvPr/>
        </p:nvSpPr>
        <p:spPr>
          <a:xfrm>
            <a:off x="8303323" y="1287482"/>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SQL QUERY </a:t>
            </a:r>
          </a:p>
          <a:p>
            <a:pPr algn="ctr"/>
            <a:r>
              <a:rPr lang="en-US" sz="2800" dirty="0">
                <a:solidFill>
                  <a:schemeClr val="tx1"/>
                </a:solidFill>
              </a:rPr>
              <a:t>(Input)</a:t>
            </a:r>
          </a:p>
        </p:txBody>
      </p:sp>
      <p:sp>
        <p:nvSpPr>
          <p:cNvPr id="5" name="Rectangle 4"/>
          <p:cNvSpPr/>
          <p:nvPr/>
        </p:nvSpPr>
        <p:spPr>
          <a:xfrm>
            <a:off x="8303322" y="3904948"/>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OUTPUT</a:t>
            </a:r>
          </a:p>
        </p:txBody>
      </p:sp>
      <p:sp>
        <p:nvSpPr>
          <p:cNvPr id="6" name="Down Arrow 5"/>
          <p:cNvSpPr/>
          <p:nvPr/>
        </p:nvSpPr>
        <p:spPr>
          <a:xfrm>
            <a:off x="8831695" y="2728381"/>
            <a:ext cx="1273216" cy="7523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765951" y="1126693"/>
            <a:ext cx="5919131" cy="3893715"/>
          </a:xfrm>
          <a:prstGeom prst="rect">
            <a:avLst/>
          </a:prstGeom>
          <a:effectLst>
            <a:glow rad="127000">
              <a:schemeClr val="accent1">
                <a:alpha val="93000"/>
              </a:schemeClr>
            </a:glow>
          </a:effectLst>
        </p:spPr>
      </p:pic>
      <p:graphicFrame>
        <p:nvGraphicFramePr>
          <p:cNvPr id="11" name="Diagram 10"/>
          <p:cNvGraphicFramePr/>
          <p:nvPr>
            <p:extLst>
              <p:ext uri="{D42A27DB-BD31-4B8C-83A1-F6EECF244321}">
                <p14:modId xmlns:p14="http://schemas.microsoft.com/office/powerpoint/2010/main" val="3803546928"/>
              </p:ext>
            </p:extLst>
          </p:nvPr>
        </p:nvGraphicFramePr>
        <p:xfrm>
          <a:off x="175846" y="5269938"/>
          <a:ext cx="11790485" cy="13936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581272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9597" y="343863"/>
            <a:ext cx="10628936" cy="615553"/>
          </a:xfrm>
          <a:prstGeom prst="rect">
            <a:avLst/>
          </a:prstGeom>
        </p:spPr>
        <p:txBody>
          <a:bodyPr wrap="square">
            <a:spAutoFit/>
          </a:bodyPr>
          <a:lstStyle/>
          <a:p>
            <a:r>
              <a:rPr lang="en-US" sz="3400" dirty="0">
                <a:solidFill>
                  <a:schemeClr val="bg1"/>
                </a:solidFill>
              </a:rPr>
              <a:t>3. Multi-account customers</a:t>
            </a:r>
          </a:p>
        </p:txBody>
      </p:sp>
      <p:sp>
        <p:nvSpPr>
          <p:cNvPr id="6" name="Rectangle 5"/>
          <p:cNvSpPr/>
          <p:nvPr/>
        </p:nvSpPr>
        <p:spPr>
          <a:xfrm>
            <a:off x="8451326" y="1079657"/>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SQL QUERY </a:t>
            </a:r>
          </a:p>
          <a:p>
            <a:pPr algn="ctr"/>
            <a:r>
              <a:rPr lang="en-US" sz="2800" dirty="0">
                <a:solidFill>
                  <a:schemeClr val="tx1"/>
                </a:solidFill>
              </a:rPr>
              <a:t>(Input)</a:t>
            </a:r>
          </a:p>
        </p:txBody>
      </p:sp>
      <p:sp>
        <p:nvSpPr>
          <p:cNvPr id="7" name="Rectangle 6"/>
          <p:cNvSpPr/>
          <p:nvPr/>
        </p:nvSpPr>
        <p:spPr>
          <a:xfrm>
            <a:off x="8530456" y="3578821"/>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OUTPUT</a:t>
            </a:r>
          </a:p>
        </p:txBody>
      </p:sp>
      <p:sp>
        <p:nvSpPr>
          <p:cNvPr id="8" name="Down Arrow 7"/>
          <p:cNvSpPr/>
          <p:nvPr/>
        </p:nvSpPr>
        <p:spPr>
          <a:xfrm>
            <a:off x="8979698" y="2518668"/>
            <a:ext cx="1273216" cy="7523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1361451" y="1079657"/>
            <a:ext cx="4872614" cy="3630377"/>
          </a:xfrm>
          <a:prstGeom prst="rect">
            <a:avLst/>
          </a:prstGeom>
          <a:effectLst>
            <a:glow rad="127000">
              <a:schemeClr val="accent1">
                <a:alpha val="94000"/>
              </a:schemeClr>
            </a:glow>
          </a:effectLst>
        </p:spPr>
      </p:pic>
      <p:graphicFrame>
        <p:nvGraphicFramePr>
          <p:cNvPr id="11" name="Diagram 10"/>
          <p:cNvGraphicFramePr/>
          <p:nvPr>
            <p:extLst>
              <p:ext uri="{D42A27DB-BD31-4B8C-83A1-F6EECF244321}">
                <p14:modId xmlns:p14="http://schemas.microsoft.com/office/powerpoint/2010/main" val="4113946353"/>
              </p:ext>
            </p:extLst>
          </p:nvPr>
        </p:nvGraphicFramePr>
        <p:xfrm>
          <a:off x="175846" y="5090746"/>
          <a:ext cx="11790485" cy="1572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783408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679922" y="1339573"/>
            <a:ext cx="2329961" cy="8988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SQL QUERY </a:t>
            </a:r>
          </a:p>
          <a:p>
            <a:pPr algn="ctr"/>
            <a:r>
              <a:rPr lang="en-US" sz="2800" dirty="0">
                <a:solidFill>
                  <a:schemeClr val="tx1"/>
                </a:solidFill>
              </a:rPr>
              <a:t>(Input)</a:t>
            </a:r>
          </a:p>
        </p:txBody>
      </p:sp>
      <p:sp>
        <p:nvSpPr>
          <p:cNvPr id="6" name="Rectangle 5"/>
          <p:cNvSpPr/>
          <p:nvPr/>
        </p:nvSpPr>
        <p:spPr>
          <a:xfrm>
            <a:off x="8679921" y="3448898"/>
            <a:ext cx="2329961" cy="8988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rPr>
              <a:t>OUTPUT</a:t>
            </a:r>
            <a:endParaRPr lang="en-US" sz="3600" dirty="0">
              <a:solidFill>
                <a:schemeClr val="tx1"/>
              </a:solidFill>
            </a:endParaRPr>
          </a:p>
        </p:txBody>
      </p:sp>
      <p:sp>
        <p:nvSpPr>
          <p:cNvPr id="7" name="Down Arrow 6"/>
          <p:cNvSpPr/>
          <p:nvPr/>
        </p:nvSpPr>
        <p:spPr>
          <a:xfrm>
            <a:off x="9208294" y="2529255"/>
            <a:ext cx="1273216" cy="71882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746943" y="1216767"/>
            <a:ext cx="6264183" cy="3009287"/>
          </a:xfrm>
          <a:prstGeom prst="rect">
            <a:avLst/>
          </a:prstGeom>
          <a:effectLst>
            <a:glow rad="127000">
              <a:schemeClr val="accent1">
                <a:alpha val="97000"/>
              </a:schemeClr>
            </a:glow>
          </a:effectLst>
        </p:spPr>
      </p:pic>
      <p:sp>
        <p:nvSpPr>
          <p:cNvPr id="9" name="Rectangle 8"/>
          <p:cNvSpPr/>
          <p:nvPr/>
        </p:nvSpPr>
        <p:spPr>
          <a:xfrm>
            <a:off x="494650" y="318081"/>
            <a:ext cx="9145170" cy="615553"/>
          </a:xfrm>
          <a:prstGeom prst="rect">
            <a:avLst/>
          </a:prstGeom>
        </p:spPr>
        <p:txBody>
          <a:bodyPr wrap="square">
            <a:spAutoFit/>
          </a:bodyPr>
          <a:lstStyle/>
          <a:p>
            <a:r>
              <a:rPr lang="en-US" sz="3400" dirty="0">
                <a:solidFill>
                  <a:schemeClr val="bg1"/>
                </a:solidFill>
              </a:rPr>
              <a:t>4. Debit vs. Credit volume by channel</a:t>
            </a:r>
          </a:p>
        </p:txBody>
      </p:sp>
      <p:graphicFrame>
        <p:nvGraphicFramePr>
          <p:cNvPr id="2" name="Diagram 1"/>
          <p:cNvGraphicFramePr/>
          <p:nvPr>
            <p:extLst>
              <p:ext uri="{D42A27DB-BD31-4B8C-83A1-F6EECF244321}">
                <p14:modId xmlns:p14="http://schemas.microsoft.com/office/powerpoint/2010/main" val="415454993"/>
              </p:ext>
            </p:extLst>
          </p:nvPr>
        </p:nvGraphicFramePr>
        <p:xfrm>
          <a:off x="184639" y="4753692"/>
          <a:ext cx="11772900" cy="18074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856583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6883" y="399500"/>
            <a:ext cx="9695139" cy="615553"/>
          </a:xfrm>
          <a:prstGeom prst="rect">
            <a:avLst/>
          </a:prstGeom>
        </p:spPr>
        <p:txBody>
          <a:bodyPr wrap="square">
            <a:spAutoFit/>
          </a:bodyPr>
          <a:lstStyle/>
          <a:p>
            <a:r>
              <a:rPr lang="en-US" sz="3400" dirty="0">
                <a:solidFill>
                  <a:schemeClr val="bg1"/>
                </a:solidFill>
              </a:rPr>
              <a:t>5. Top debit accounts</a:t>
            </a:r>
          </a:p>
        </p:txBody>
      </p:sp>
      <p:sp>
        <p:nvSpPr>
          <p:cNvPr id="6" name="Rectangle 5"/>
          <p:cNvSpPr/>
          <p:nvPr/>
        </p:nvSpPr>
        <p:spPr>
          <a:xfrm>
            <a:off x="8228584" y="3688756"/>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OUTPUT</a:t>
            </a:r>
          </a:p>
        </p:txBody>
      </p:sp>
      <p:sp>
        <p:nvSpPr>
          <p:cNvPr id="7" name="Rectangle 6"/>
          <p:cNvSpPr/>
          <p:nvPr/>
        </p:nvSpPr>
        <p:spPr>
          <a:xfrm>
            <a:off x="8228586" y="1385825"/>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SQL QUERY </a:t>
            </a:r>
          </a:p>
          <a:p>
            <a:pPr algn="ctr"/>
            <a:r>
              <a:rPr lang="en-US" sz="2800" dirty="0">
                <a:solidFill>
                  <a:schemeClr val="tx1"/>
                </a:solidFill>
              </a:rPr>
              <a:t>(Input)</a:t>
            </a:r>
          </a:p>
        </p:txBody>
      </p:sp>
      <p:sp>
        <p:nvSpPr>
          <p:cNvPr id="8" name="Down Arrow 7"/>
          <p:cNvSpPr/>
          <p:nvPr/>
        </p:nvSpPr>
        <p:spPr>
          <a:xfrm>
            <a:off x="8756957" y="2646697"/>
            <a:ext cx="1273216" cy="7523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479913" y="1118663"/>
            <a:ext cx="6416596" cy="3541260"/>
          </a:xfrm>
          <a:prstGeom prst="rect">
            <a:avLst/>
          </a:prstGeom>
          <a:effectLst>
            <a:glow rad="127000">
              <a:schemeClr val="accent1">
                <a:alpha val="99000"/>
              </a:schemeClr>
            </a:glow>
          </a:effectLst>
        </p:spPr>
      </p:pic>
      <p:graphicFrame>
        <p:nvGraphicFramePr>
          <p:cNvPr id="4" name="Diagram 3"/>
          <p:cNvGraphicFramePr/>
          <p:nvPr>
            <p:extLst>
              <p:ext uri="{D42A27DB-BD31-4B8C-83A1-F6EECF244321}">
                <p14:modId xmlns:p14="http://schemas.microsoft.com/office/powerpoint/2010/main" val="711932672"/>
              </p:ext>
            </p:extLst>
          </p:nvPr>
        </p:nvGraphicFramePr>
        <p:xfrm>
          <a:off x="175846" y="4949628"/>
          <a:ext cx="11790485" cy="18028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889365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1"/>
          <p:cNvSpPr/>
          <p:nvPr/>
        </p:nvSpPr>
        <p:spPr>
          <a:xfrm>
            <a:off x="755197" y="175446"/>
            <a:ext cx="5439823" cy="615553"/>
          </a:xfrm>
          <a:prstGeom prst="rect">
            <a:avLst/>
          </a:prstGeom>
        </p:spPr>
        <p:txBody>
          <a:bodyPr wrap="none">
            <a:spAutoFit/>
          </a:bodyPr>
          <a:lstStyle/>
          <a:p>
            <a:r>
              <a:rPr lang="en-US" sz="3400" dirty="0">
                <a:solidFill>
                  <a:schemeClr val="bg1"/>
                </a:solidFill>
              </a:rPr>
              <a:t>6. Monthly transaction trends</a:t>
            </a:r>
          </a:p>
        </p:txBody>
      </p:sp>
      <p:sp>
        <p:nvSpPr>
          <p:cNvPr id="4" name="Rectangle 3"/>
          <p:cNvSpPr/>
          <p:nvPr/>
        </p:nvSpPr>
        <p:spPr>
          <a:xfrm>
            <a:off x="8697510" y="1179616"/>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SQL QUERY </a:t>
            </a:r>
          </a:p>
          <a:p>
            <a:pPr algn="ctr"/>
            <a:r>
              <a:rPr lang="en-US" sz="2800" dirty="0">
                <a:solidFill>
                  <a:schemeClr val="tx1"/>
                </a:solidFill>
              </a:rPr>
              <a:t>(Input)</a:t>
            </a:r>
          </a:p>
        </p:txBody>
      </p:sp>
      <p:sp>
        <p:nvSpPr>
          <p:cNvPr id="5" name="Rectangle 4"/>
          <p:cNvSpPr/>
          <p:nvPr/>
        </p:nvSpPr>
        <p:spPr>
          <a:xfrm>
            <a:off x="8759056" y="3624666"/>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rPr>
              <a:t>OUTPUT</a:t>
            </a:r>
            <a:endParaRPr lang="en-US" sz="3600" dirty="0">
              <a:solidFill>
                <a:schemeClr val="tx1"/>
              </a:solidFill>
            </a:endParaRPr>
          </a:p>
        </p:txBody>
      </p:sp>
      <p:sp>
        <p:nvSpPr>
          <p:cNvPr id="6" name="Down Arrow 5"/>
          <p:cNvSpPr/>
          <p:nvPr/>
        </p:nvSpPr>
        <p:spPr>
          <a:xfrm>
            <a:off x="9225882" y="2542922"/>
            <a:ext cx="1273216" cy="7523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851912" y="1069838"/>
            <a:ext cx="6294665" cy="3698523"/>
          </a:xfrm>
          <a:prstGeom prst="rect">
            <a:avLst/>
          </a:prstGeom>
          <a:effectLst>
            <a:glow rad="127000">
              <a:schemeClr val="accent1">
                <a:alpha val="99000"/>
              </a:schemeClr>
            </a:glow>
          </a:effectLst>
        </p:spPr>
      </p:pic>
      <p:graphicFrame>
        <p:nvGraphicFramePr>
          <p:cNvPr id="10" name="Diagram 9"/>
          <p:cNvGraphicFramePr/>
          <p:nvPr>
            <p:extLst>
              <p:ext uri="{D42A27DB-BD31-4B8C-83A1-F6EECF244321}">
                <p14:modId xmlns:p14="http://schemas.microsoft.com/office/powerpoint/2010/main" val="2388945461"/>
              </p:ext>
            </p:extLst>
          </p:nvPr>
        </p:nvGraphicFramePr>
        <p:xfrm>
          <a:off x="175846" y="5047200"/>
          <a:ext cx="11790485" cy="17140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76632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9179" y="288603"/>
            <a:ext cx="12097444" cy="646331"/>
          </a:xfrm>
          <a:prstGeom prst="rect">
            <a:avLst/>
          </a:prstGeom>
        </p:spPr>
        <p:txBody>
          <a:bodyPr wrap="square">
            <a:spAutoFit/>
          </a:bodyPr>
          <a:lstStyle/>
          <a:p>
            <a:r>
              <a:rPr lang="en-US" sz="3400" dirty="0">
                <a:solidFill>
                  <a:schemeClr val="bg1"/>
                </a:solidFill>
              </a:rPr>
              <a:t>7. </a:t>
            </a:r>
            <a:r>
              <a:rPr lang="en-US" sz="3600" dirty="0">
                <a:solidFill>
                  <a:schemeClr val="bg1"/>
                </a:solidFill>
              </a:rPr>
              <a:t>Last Transaction Date per Account</a:t>
            </a:r>
            <a:endParaRPr lang="en-US" sz="3400" dirty="0">
              <a:solidFill>
                <a:schemeClr val="bg1"/>
              </a:solidFill>
            </a:endParaRPr>
          </a:p>
        </p:txBody>
      </p:sp>
      <p:sp>
        <p:nvSpPr>
          <p:cNvPr id="4" name="Rectangle 3"/>
          <p:cNvSpPr/>
          <p:nvPr/>
        </p:nvSpPr>
        <p:spPr>
          <a:xfrm>
            <a:off x="8301854" y="1159992"/>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SQL QUERY </a:t>
            </a:r>
          </a:p>
          <a:p>
            <a:pPr algn="ctr"/>
            <a:r>
              <a:rPr lang="en-US" sz="2800" dirty="0">
                <a:solidFill>
                  <a:schemeClr val="tx1"/>
                </a:solidFill>
              </a:rPr>
              <a:t>(Input)</a:t>
            </a:r>
          </a:p>
        </p:txBody>
      </p:sp>
      <p:sp>
        <p:nvSpPr>
          <p:cNvPr id="5" name="Rectangle 4"/>
          <p:cNvSpPr/>
          <p:nvPr/>
        </p:nvSpPr>
        <p:spPr>
          <a:xfrm>
            <a:off x="8301854" y="3708165"/>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rPr>
              <a:t>OUTPUT</a:t>
            </a:r>
            <a:endParaRPr lang="en-US" sz="3600" dirty="0">
              <a:solidFill>
                <a:schemeClr val="tx1"/>
              </a:solidFill>
            </a:endParaRPr>
          </a:p>
        </p:txBody>
      </p:sp>
      <p:sp>
        <p:nvSpPr>
          <p:cNvPr id="6" name="Down Arrow 5"/>
          <p:cNvSpPr/>
          <p:nvPr/>
        </p:nvSpPr>
        <p:spPr>
          <a:xfrm>
            <a:off x="8830226" y="2434877"/>
            <a:ext cx="1273216" cy="7523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tretch>
            <a:fillRect/>
          </a:stretch>
        </p:blipFill>
        <p:spPr>
          <a:xfrm>
            <a:off x="867259" y="1034099"/>
            <a:ext cx="5630642" cy="3801670"/>
          </a:xfrm>
          <a:prstGeom prst="rect">
            <a:avLst/>
          </a:prstGeom>
          <a:effectLst>
            <a:glow rad="127000">
              <a:schemeClr val="accent1">
                <a:alpha val="83000"/>
              </a:schemeClr>
            </a:glow>
          </a:effectLst>
        </p:spPr>
      </p:pic>
      <p:graphicFrame>
        <p:nvGraphicFramePr>
          <p:cNvPr id="23" name="Diagram 22"/>
          <p:cNvGraphicFramePr/>
          <p:nvPr>
            <p:extLst>
              <p:ext uri="{D42A27DB-BD31-4B8C-83A1-F6EECF244321}">
                <p14:modId xmlns:p14="http://schemas.microsoft.com/office/powerpoint/2010/main" val="1105865092"/>
              </p:ext>
            </p:extLst>
          </p:nvPr>
        </p:nvGraphicFramePr>
        <p:xfrm>
          <a:off x="246186" y="5060828"/>
          <a:ext cx="11588262" cy="16547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990894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Rectangle 1"/>
          <p:cNvSpPr/>
          <p:nvPr/>
        </p:nvSpPr>
        <p:spPr>
          <a:xfrm>
            <a:off x="467843" y="231042"/>
            <a:ext cx="10988533" cy="646331"/>
          </a:xfrm>
          <a:prstGeom prst="rect">
            <a:avLst/>
          </a:prstGeom>
        </p:spPr>
        <p:txBody>
          <a:bodyPr wrap="square">
            <a:spAutoFit/>
          </a:bodyPr>
          <a:lstStyle/>
          <a:p>
            <a:r>
              <a:rPr lang="en-US" sz="3400" dirty="0" smtClean="0">
                <a:solidFill>
                  <a:schemeClr val="bg1"/>
                </a:solidFill>
              </a:rPr>
              <a:t>8. </a:t>
            </a:r>
            <a:r>
              <a:rPr lang="en-US" sz="3600" dirty="0">
                <a:solidFill>
                  <a:schemeClr val="bg1"/>
                </a:solidFill>
              </a:rPr>
              <a:t>Average transaction amount by age group</a:t>
            </a:r>
            <a:endParaRPr lang="en-US" sz="3400" dirty="0">
              <a:solidFill>
                <a:schemeClr val="bg1"/>
              </a:solidFill>
            </a:endParaRPr>
          </a:p>
        </p:txBody>
      </p:sp>
      <p:sp>
        <p:nvSpPr>
          <p:cNvPr id="5" name="Rectangle 4"/>
          <p:cNvSpPr/>
          <p:nvPr/>
        </p:nvSpPr>
        <p:spPr>
          <a:xfrm>
            <a:off x="8252485" y="3661974"/>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rPr>
              <a:t>OUTPUT</a:t>
            </a:r>
            <a:endParaRPr lang="en-US" sz="3600" dirty="0">
              <a:solidFill>
                <a:schemeClr val="tx1"/>
              </a:solidFill>
            </a:endParaRPr>
          </a:p>
        </p:txBody>
      </p:sp>
      <p:sp>
        <p:nvSpPr>
          <p:cNvPr id="6" name="Rectangle 5"/>
          <p:cNvSpPr/>
          <p:nvPr/>
        </p:nvSpPr>
        <p:spPr>
          <a:xfrm>
            <a:off x="8252485" y="1266610"/>
            <a:ext cx="2329961" cy="94077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SQL QUERY </a:t>
            </a:r>
          </a:p>
          <a:p>
            <a:pPr algn="ctr"/>
            <a:r>
              <a:rPr lang="en-US" sz="2800" dirty="0">
                <a:solidFill>
                  <a:schemeClr val="tx1"/>
                </a:solidFill>
              </a:rPr>
              <a:t>(Input)</a:t>
            </a:r>
          </a:p>
        </p:txBody>
      </p:sp>
      <p:sp>
        <p:nvSpPr>
          <p:cNvPr id="7" name="Down Arrow 6"/>
          <p:cNvSpPr/>
          <p:nvPr/>
        </p:nvSpPr>
        <p:spPr>
          <a:xfrm>
            <a:off x="8780857" y="2578316"/>
            <a:ext cx="1273216" cy="75235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937564" y="1043663"/>
            <a:ext cx="6157827" cy="3559088"/>
          </a:xfrm>
          <a:prstGeom prst="rect">
            <a:avLst/>
          </a:prstGeom>
          <a:effectLst>
            <a:glow rad="127000">
              <a:schemeClr val="accent1">
                <a:alpha val="93000"/>
              </a:schemeClr>
            </a:glow>
          </a:effectLst>
        </p:spPr>
      </p:pic>
      <p:graphicFrame>
        <p:nvGraphicFramePr>
          <p:cNvPr id="10" name="Diagram 9"/>
          <p:cNvGraphicFramePr/>
          <p:nvPr>
            <p:extLst>
              <p:ext uri="{D42A27DB-BD31-4B8C-83A1-F6EECF244321}">
                <p14:modId xmlns:p14="http://schemas.microsoft.com/office/powerpoint/2010/main" val="1362828430"/>
              </p:ext>
            </p:extLst>
          </p:nvPr>
        </p:nvGraphicFramePr>
        <p:xfrm>
          <a:off x="149470" y="4962942"/>
          <a:ext cx="11852031" cy="1731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336593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065" y="879369"/>
            <a:ext cx="6107064" cy="5477470"/>
          </a:xfrm>
          <a:prstGeom prst="rect">
            <a:avLst/>
          </a:prstGeom>
          <a:solidFill>
            <a:schemeClr val="accent2"/>
          </a:solidFill>
          <a:effectLst>
            <a:glow rad="127000">
              <a:schemeClr val="accent1">
                <a:alpha val="94000"/>
              </a:schemeClr>
            </a:glow>
          </a:effectLst>
        </p:spPr>
      </p:pic>
      <p:sp>
        <p:nvSpPr>
          <p:cNvPr id="3" name="Rectangle 2"/>
          <p:cNvSpPr/>
          <p:nvPr/>
        </p:nvSpPr>
        <p:spPr>
          <a:xfrm>
            <a:off x="0" y="0"/>
            <a:ext cx="5322035" cy="769441"/>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wrap="square" lIns="91440" tIns="45720" rIns="91440" bIns="45720">
            <a:spAutoFit/>
          </a:bodyPr>
          <a:lstStyle/>
          <a:p>
            <a:pPr algn="ctr"/>
            <a:r>
              <a:rPr lang="en-US" sz="4400" dirty="0" smtClean="0">
                <a:ln w="0"/>
                <a:solidFill>
                  <a:schemeClr val="bg1"/>
                </a:solidFill>
                <a:effectLst>
                  <a:outerShdw blurRad="38100" dist="19050" dir="2700000" algn="tl" rotWithShape="0">
                    <a:schemeClr val="dk1">
                      <a:alpha val="40000"/>
                    </a:schemeClr>
                  </a:outerShdw>
                </a:effectLst>
              </a:rPr>
              <a:t>ER</a:t>
            </a:r>
            <a:r>
              <a:rPr lang="en-US" sz="4400" dirty="0" smtClean="0">
                <a:ln w="0"/>
                <a:effectLst>
                  <a:outerShdw blurRad="38100" dist="19050" dir="2700000" algn="tl" rotWithShape="0">
                    <a:schemeClr val="dk1">
                      <a:alpha val="40000"/>
                    </a:schemeClr>
                  </a:outerShdw>
                </a:effectLst>
              </a:rPr>
              <a:t> </a:t>
            </a:r>
            <a:r>
              <a:rPr lang="en-US" sz="4400" dirty="0" smtClean="0">
                <a:ln w="0"/>
                <a:solidFill>
                  <a:schemeClr val="bg1"/>
                </a:solidFill>
                <a:effectLst>
                  <a:outerShdw blurRad="38100" dist="19050" dir="2700000" algn="tl" rotWithShape="0">
                    <a:schemeClr val="dk1">
                      <a:alpha val="40000"/>
                    </a:schemeClr>
                  </a:outerShdw>
                </a:effectLst>
              </a:rPr>
              <a:t>DIAGRAM:</a:t>
            </a:r>
            <a:endParaRPr lang="en-US" sz="44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5" name="Diagram 4"/>
          <p:cNvGraphicFramePr/>
          <p:nvPr>
            <p:extLst>
              <p:ext uri="{D42A27DB-BD31-4B8C-83A1-F6EECF244321}">
                <p14:modId xmlns:p14="http://schemas.microsoft.com/office/powerpoint/2010/main" val="3530679807"/>
              </p:ext>
            </p:extLst>
          </p:nvPr>
        </p:nvGraphicFramePr>
        <p:xfrm>
          <a:off x="7148146" y="1732085"/>
          <a:ext cx="4818186" cy="33498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8" name="Elbow Connector 7"/>
          <p:cNvCxnSpPr/>
          <p:nvPr/>
        </p:nvCxnSpPr>
        <p:spPr>
          <a:xfrm>
            <a:off x="6440273" y="2892669"/>
            <a:ext cx="616727" cy="43082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p:cNvCxnSpPr/>
          <p:nvPr/>
        </p:nvCxnSpPr>
        <p:spPr>
          <a:xfrm flipV="1">
            <a:off x="6440273" y="3510433"/>
            <a:ext cx="616727" cy="402144"/>
          </a:xfrm>
          <a:prstGeom prst="bentConnector3">
            <a:avLst>
              <a:gd name="adj1" fmla="val 47149"/>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51253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625</TotalTime>
  <Words>562</Words>
  <Application>Microsoft Office PowerPoint</Application>
  <PresentationFormat>Widescreen</PresentationFormat>
  <Paragraphs>71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Narrow</vt:lpstr>
      <vt:lpstr>Bahnschrift Light</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Admin-PC</dc:creator>
  <cp:lastModifiedBy>Admin-PC</cp:lastModifiedBy>
  <cp:revision>47</cp:revision>
  <dcterms:created xsi:type="dcterms:W3CDTF">2025-08-28T16:37:48Z</dcterms:created>
  <dcterms:modified xsi:type="dcterms:W3CDTF">2025-09-02T16:39:28Z</dcterms:modified>
</cp:coreProperties>
</file>